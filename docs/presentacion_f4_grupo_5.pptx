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123" autoAdjust="0"/>
  </p:normalViewPr>
  <p:slideViewPr>
    <p:cSldViewPr snapToGrid="0" snapToObjects="1">
      <p:cViewPr varScale="1">
        <p:scale>
          <a:sx n="81" d="100"/>
          <a:sy n="81" d="100"/>
        </p:scale>
        <p:origin x="171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1"/>
        <c:ser>
          <c:idx val="0"/>
          <c:order val="0"/>
          <c:tx>
            <c:strRef>
              <c:f>Sheet1!$B$1</c:f>
              <c:strCache>
                <c:ptCount val="1"/>
                <c:pt idx="0">
                  <c:v>Serie</c:v>
                </c:pt>
              </c:strCache>
            </c:strRef>
          </c:tx>
          <c:invertIfNegative val="1"/>
          <c:dPt>
            <c:idx val="0"/>
            <c:invertIfNegative val="1"/>
            <c:bubble3D val="0"/>
            <c:spPr>
              <a:solidFill>
                <a:srgbClr val="B23A3A"/>
              </a:solidFill>
            </c:spPr>
            <c:extLst>
              <c:ext xmlns:c16="http://schemas.microsoft.com/office/drawing/2014/chart" uri="{C3380CC4-5D6E-409C-BE32-E72D297353CC}">
                <c16:uniqueId val="{00000001-2F5B-4C56-B286-69D33846A8A5}"/>
              </c:ext>
            </c:extLst>
          </c:dPt>
          <c:dPt>
            <c:idx val="1"/>
            <c:invertIfNegative val="1"/>
            <c:bubble3D val="0"/>
            <c:spPr>
              <a:solidFill>
                <a:srgbClr val="A3B8D4"/>
              </a:solidFill>
            </c:spPr>
            <c:extLst>
              <c:ext xmlns:c16="http://schemas.microsoft.com/office/drawing/2014/chart" uri="{C3380CC4-5D6E-409C-BE32-E72D297353CC}">
                <c16:uniqueId val="{00000003-2F5B-4C56-B286-69D33846A8A5}"/>
              </c:ext>
            </c:extLst>
          </c:dPt>
          <c:dPt>
            <c:idx val="2"/>
            <c:invertIfNegative val="1"/>
            <c:bubble3D val="0"/>
            <c:spPr>
              <a:solidFill>
                <a:srgbClr val="A3B8D4"/>
              </a:solidFill>
            </c:spPr>
            <c:extLst>
              <c:ext xmlns:c16="http://schemas.microsoft.com/office/drawing/2014/chart" uri="{C3380CC4-5D6E-409C-BE32-E72D297353CC}">
                <c16:uniqueId val="{00000005-2F5B-4C56-B286-69D33846A8A5}"/>
              </c:ext>
            </c:extLst>
          </c:dPt>
          <c:dPt>
            <c:idx val="3"/>
            <c:invertIfNegative val="1"/>
            <c:bubble3D val="0"/>
            <c:spPr>
              <a:solidFill>
                <a:srgbClr val="A3B8D4"/>
              </a:solidFill>
            </c:spPr>
            <c:extLst>
              <c:ext xmlns:c16="http://schemas.microsoft.com/office/drawing/2014/chart" uri="{C3380CC4-5D6E-409C-BE32-E72D297353CC}">
                <c16:uniqueId val="{00000007-2F5B-4C56-B286-69D33846A8A5}"/>
              </c:ext>
            </c:extLst>
          </c:dPt>
          <c:dPt>
            <c:idx val="4"/>
            <c:invertIfNegative val="1"/>
            <c:bubble3D val="0"/>
            <c:spPr>
              <a:solidFill>
                <a:srgbClr val="1F4E79"/>
              </a:solidFill>
            </c:spPr>
            <c:extLst>
              <c:ext xmlns:c16="http://schemas.microsoft.com/office/drawing/2014/chart" uri="{C3380CC4-5D6E-409C-BE32-E72D297353CC}">
                <c16:uniqueId val="{00000009-2F5B-4C56-B286-69D33846A8A5}"/>
              </c:ext>
            </c:extLst>
          </c:dPt>
          <c:dLbls>
            <c:numFmt formatCode="0.0&quot; %&quot;" sourceLinked="0"/>
            <c:spPr>
              <a:noFill/>
              <a:ln>
                <a:noFill/>
              </a:ln>
              <a:effectLst/>
            </c:spPr>
            <c:txPr>
              <a:bodyPr/>
              <a:lstStyle/>
              <a:p>
                <a:pPr>
                  <a:defRPr sz="1400" b="1">
                    <a:solidFill>
                      <a:srgbClr val="1A2433"/>
                    </a:solidFill>
                  </a:defRPr>
                </a:pPr>
                <a:endParaRPr lang="es-C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Micro</c:v>
                </c:pt>
                <c:pt idx="1">
                  <c:v>Pequeña</c:v>
                </c:pt>
                <c:pt idx="2">
                  <c:v>No clasificado</c:v>
                </c:pt>
                <c:pt idx="3">
                  <c:v>Mediana</c:v>
                </c:pt>
                <c:pt idx="4">
                  <c:v>Grande</c:v>
                </c:pt>
              </c:strCache>
            </c:strRef>
          </c:cat>
          <c:val>
            <c:numRef>
              <c:f>Sheet1!$B$2:$B$6</c:f>
              <c:numCache>
                <c:formatCode>General</c:formatCode>
                <c:ptCount val="5"/>
                <c:pt idx="0">
                  <c:v>52</c:v>
                </c:pt>
                <c:pt idx="1">
                  <c:v>52.3</c:v>
                </c:pt>
                <c:pt idx="2">
                  <c:v>53.4</c:v>
                </c:pt>
                <c:pt idx="3">
                  <c:v>55.5</c:v>
                </c:pt>
                <c:pt idx="4">
                  <c:v>66.8</c:v>
                </c:pt>
              </c:numCache>
            </c:numRef>
          </c:val>
          <c:extLst>
            <c:ext xmlns:c16="http://schemas.microsoft.com/office/drawing/2014/chart" uri="{C3380CC4-5D6E-409C-BE32-E72D297353CC}">
              <c16:uniqueId val="{0000000A-2F5B-4C56-B286-69D33846A8A5}"/>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A3B8D4"/>
            </a:solidFill>
          </a:ln>
        </c:spPr>
        <c:txPr>
          <a:bodyPr/>
          <a:lstStyle/>
          <a:p>
            <a:pPr>
              <a:defRPr sz="1400">
                <a:solidFill>
                  <a:srgbClr val="1A2433"/>
                </a:solidFill>
              </a:defRPr>
            </a:pPr>
            <a:endParaRPr lang="es-CL"/>
          </a:p>
        </c:txPr>
        <c:crossAx val="-2113994440"/>
        <c:crosses val="autoZero"/>
        <c:auto val="1"/>
        <c:lblAlgn val="ctr"/>
        <c:lblOffset val="100"/>
        <c:noMultiLvlLbl val="0"/>
      </c:catAx>
      <c:valAx>
        <c:axId val="-2113994440"/>
        <c:scaling>
          <c:orientation val="minMax"/>
          <c:max val="8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1A24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Serie</c:v>
                </c:pt>
              </c:strCache>
            </c:strRef>
          </c:tx>
          <c:invertIfNegative val="1"/>
          <c:dPt>
            <c:idx val="0"/>
            <c:invertIfNegative val="1"/>
            <c:bubble3D val="0"/>
            <c:spPr>
              <a:solidFill>
                <a:srgbClr val="A3B8D4"/>
              </a:solidFill>
            </c:spPr>
            <c:extLst>
              <c:ext xmlns:c16="http://schemas.microsoft.com/office/drawing/2014/chart" uri="{C3380CC4-5D6E-409C-BE32-E72D297353CC}">
                <c16:uniqueId val="{00000001-344E-44D0-AB34-A6CFCE14EAB6}"/>
              </c:ext>
            </c:extLst>
          </c:dPt>
          <c:dPt>
            <c:idx val="1"/>
            <c:invertIfNegative val="1"/>
            <c:bubble3D val="0"/>
            <c:spPr>
              <a:solidFill>
                <a:srgbClr val="1F4E79"/>
              </a:solidFill>
            </c:spPr>
            <c:extLst>
              <c:ext xmlns:c16="http://schemas.microsoft.com/office/drawing/2014/chart" uri="{C3380CC4-5D6E-409C-BE32-E72D297353CC}">
                <c16:uniqueId val="{00000003-344E-44D0-AB34-A6CFCE14EAB6}"/>
              </c:ext>
            </c:extLst>
          </c:dPt>
          <c:dPt>
            <c:idx val="2"/>
            <c:invertIfNegative val="1"/>
            <c:bubble3D val="0"/>
            <c:spPr>
              <a:solidFill>
                <a:srgbClr val="1F4E79"/>
              </a:solidFill>
            </c:spPr>
            <c:extLst>
              <c:ext xmlns:c16="http://schemas.microsoft.com/office/drawing/2014/chart" uri="{C3380CC4-5D6E-409C-BE32-E72D297353CC}">
                <c16:uniqueId val="{00000005-344E-44D0-AB34-A6CFCE14EAB6}"/>
              </c:ext>
            </c:extLst>
          </c:dPt>
          <c:dPt>
            <c:idx val="3"/>
            <c:invertIfNegative val="1"/>
            <c:bubble3D val="0"/>
            <c:spPr>
              <a:solidFill>
                <a:srgbClr val="1F4E79"/>
              </a:solidFill>
            </c:spPr>
            <c:extLst>
              <c:ext xmlns:c16="http://schemas.microsoft.com/office/drawing/2014/chart" uri="{C3380CC4-5D6E-409C-BE32-E72D297353CC}">
                <c16:uniqueId val="{00000007-344E-44D0-AB34-A6CFCE14EAB6}"/>
              </c:ext>
            </c:extLst>
          </c:dPt>
          <c:dLbls>
            <c:numFmt formatCode="0.0&quot; %&quot;" sourceLinked="0"/>
            <c:spPr>
              <a:noFill/>
              <a:ln>
                <a:noFill/>
              </a:ln>
              <a:effectLst/>
            </c:spPr>
            <c:txPr>
              <a:bodyPr/>
              <a:lstStyle/>
              <a:p>
                <a:pPr>
                  <a:defRPr sz="1400" b="1">
                    <a:solidFill>
                      <a:srgbClr val="1A2433"/>
                    </a:solidFill>
                  </a:defRPr>
                </a:pPr>
                <a:endParaRPr lang="es-C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L1  &lt; 100 UTM</c:v>
                </c:pt>
                <c:pt idx="1">
                  <c:v>LE  100–1.000</c:v>
                </c:pt>
                <c:pt idx="2">
                  <c:v>LP  &gt; 1.000</c:v>
                </c:pt>
                <c:pt idx="3">
                  <c:v>LR  &gt; 5.000</c:v>
                </c:pt>
              </c:strCache>
            </c:strRef>
          </c:cat>
          <c:val>
            <c:numRef>
              <c:f>Sheet1!$B$2:$B$5</c:f>
              <c:numCache>
                <c:formatCode>General</c:formatCode>
                <c:ptCount val="4"/>
                <c:pt idx="0">
                  <c:v>57.7</c:v>
                </c:pt>
                <c:pt idx="1">
                  <c:v>62.3</c:v>
                </c:pt>
                <c:pt idx="2">
                  <c:v>56</c:v>
                </c:pt>
                <c:pt idx="3">
                  <c:v>51.5</c:v>
                </c:pt>
              </c:numCache>
            </c:numRef>
          </c:val>
          <c:extLst>
            <c:ext xmlns:c16="http://schemas.microsoft.com/office/drawing/2014/chart" uri="{C3380CC4-5D6E-409C-BE32-E72D297353CC}">
              <c16:uniqueId val="{00000008-344E-44D0-AB34-A6CFCE14EAB6}"/>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A3B8D4"/>
            </a:solidFill>
          </a:ln>
        </c:spPr>
        <c:txPr>
          <a:bodyPr/>
          <a:lstStyle/>
          <a:p>
            <a:pPr>
              <a:defRPr sz="1400">
                <a:solidFill>
                  <a:srgbClr val="1A2433"/>
                </a:solidFill>
              </a:defRPr>
            </a:pPr>
            <a:endParaRPr lang="es-CL"/>
          </a:p>
        </c:txPr>
        <c:crossAx val="-2113994440"/>
        <c:crosses val="autoZero"/>
        <c:auto val="1"/>
        <c:lblAlgn val="ctr"/>
        <c:lblOffset val="100"/>
        <c:noMultiLvlLbl val="0"/>
      </c:catAx>
      <c:valAx>
        <c:axId val="-2113994440"/>
        <c:scaling>
          <c:orientation val="minMax"/>
          <c:max val="7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1A24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Serie</c:v>
                </c:pt>
              </c:strCache>
            </c:strRef>
          </c:tx>
          <c:invertIfNegative val="1"/>
          <c:dPt>
            <c:idx val="0"/>
            <c:invertIfNegative val="1"/>
            <c:bubble3D val="0"/>
            <c:spPr>
              <a:solidFill>
                <a:srgbClr val="A3B8D4"/>
              </a:solidFill>
            </c:spPr>
            <c:extLst>
              <c:ext xmlns:c16="http://schemas.microsoft.com/office/drawing/2014/chart" uri="{C3380CC4-5D6E-409C-BE32-E72D297353CC}">
                <c16:uniqueId val="{00000001-A258-4FCC-AC6B-B8065C6D6F8C}"/>
              </c:ext>
            </c:extLst>
          </c:dPt>
          <c:dPt>
            <c:idx val="1"/>
            <c:invertIfNegative val="1"/>
            <c:bubble3D val="0"/>
            <c:spPr>
              <a:solidFill>
                <a:srgbClr val="1F4E79"/>
              </a:solidFill>
            </c:spPr>
            <c:extLst>
              <c:ext xmlns:c16="http://schemas.microsoft.com/office/drawing/2014/chart" uri="{C3380CC4-5D6E-409C-BE32-E72D297353CC}">
                <c16:uniqueId val="{00000003-A258-4FCC-AC6B-B8065C6D6F8C}"/>
              </c:ext>
            </c:extLst>
          </c:dPt>
          <c:dPt>
            <c:idx val="2"/>
            <c:invertIfNegative val="1"/>
            <c:bubble3D val="0"/>
            <c:spPr>
              <a:solidFill>
                <a:srgbClr val="1F4E79"/>
              </a:solidFill>
            </c:spPr>
            <c:extLst>
              <c:ext xmlns:c16="http://schemas.microsoft.com/office/drawing/2014/chart" uri="{C3380CC4-5D6E-409C-BE32-E72D297353CC}">
                <c16:uniqueId val="{00000005-A258-4FCC-AC6B-B8065C6D6F8C}"/>
              </c:ext>
            </c:extLst>
          </c:dPt>
          <c:dPt>
            <c:idx val="3"/>
            <c:invertIfNegative val="1"/>
            <c:bubble3D val="0"/>
            <c:spPr>
              <a:solidFill>
                <a:srgbClr val="1B3A5C"/>
              </a:solidFill>
            </c:spPr>
            <c:extLst>
              <c:ext xmlns:c16="http://schemas.microsoft.com/office/drawing/2014/chart" uri="{C3380CC4-5D6E-409C-BE32-E72D297353CC}">
                <c16:uniqueId val="{00000007-A258-4FCC-AC6B-B8065C6D6F8C}"/>
              </c:ext>
            </c:extLst>
          </c:dPt>
          <c:dLbls>
            <c:numFmt formatCode="General&quot; días&quot;" sourceLinked="0"/>
            <c:spPr>
              <a:noFill/>
              <a:ln>
                <a:noFill/>
              </a:ln>
              <a:effectLst/>
            </c:spPr>
            <c:txPr>
              <a:bodyPr/>
              <a:lstStyle/>
              <a:p>
                <a:pPr>
                  <a:defRPr sz="1400" b="1">
                    <a:solidFill>
                      <a:srgbClr val="1A2433"/>
                    </a:solidFill>
                  </a:defRPr>
                </a:pPr>
                <a:endParaRPr lang="es-C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L1  &lt; 100 UTM</c:v>
                </c:pt>
                <c:pt idx="1">
                  <c:v>LE  100–1.000</c:v>
                </c:pt>
                <c:pt idx="2">
                  <c:v>LP  &gt; 1.000</c:v>
                </c:pt>
                <c:pt idx="3">
                  <c:v>LR  &gt; 5.000</c:v>
                </c:pt>
              </c:strCache>
            </c:strRef>
          </c:cat>
          <c:val>
            <c:numRef>
              <c:f>Sheet1!$B$2:$B$5</c:f>
              <c:numCache>
                <c:formatCode>General</c:formatCode>
                <c:ptCount val="4"/>
                <c:pt idx="0">
                  <c:v>7.2</c:v>
                </c:pt>
                <c:pt idx="1">
                  <c:v>11</c:v>
                </c:pt>
                <c:pt idx="2">
                  <c:v>20</c:v>
                </c:pt>
                <c:pt idx="3">
                  <c:v>32</c:v>
                </c:pt>
              </c:numCache>
            </c:numRef>
          </c:val>
          <c:extLst>
            <c:ext xmlns:c16="http://schemas.microsoft.com/office/drawing/2014/chart" uri="{C3380CC4-5D6E-409C-BE32-E72D297353CC}">
              <c16:uniqueId val="{00000008-A258-4FCC-AC6B-B8065C6D6F8C}"/>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A3B8D4"/>
            </a:solidFill>
          </a:ln>
        </c:spPr>
        <c:txPr>
          <a:bodyPr/>
          <a:lstStyle/>
          <a:p>
            <a:pPr>
              <a:defRPr sz="1400">
                <a:solidFill>
                  <a:srgbClr val="1A2433"/>
                </a:solidFill>
              </a:defRPr>
            </a:pPr>
            <a:endParaRPr lang="es-CL"/>
          </a:p>
        </c:txPr>
        <c:crossAx val="-2113994440"/>
        <c:crosses val="autoZero"/>
        <c:auto val="1"/>
        <c:lblAlgn val="ctr"/>
        <c:lblOffset val="100"/>
        <c:noMultiLvlLbl val="0"/>
      </c:catAx>
      <c:valAx>
        <c:axId val="-2113994440"/>
        <c:scaling>
          <c:orientation val="minMax"/>
          <c:max val="3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solidFill>
            <a:srgbClr val="1A24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1018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VÍCTOR</a:t>
            </a:r>
          </a:p>
          <a:p>
            <a:r>
              <a:t>Hola, somos el Grupo 5, compuesto por Víctor Bravo, Nayadeth Garrido y Mauricio Cid. Nuestro proyecto analiza las ofertas presentadas en licitaciones públicas del sector Salud, utilizando datos de Mercado Público. Buscamos identificar patrones relacionados con el tamaño de los proveedores, el tipo de licitación y los plazos de cierre. Además, desarrollamos una solución reproducible que permite limpiar, validar, analizar y visualizar la información.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NAYADETH</a:t>
            </a:r>
          </a:p>
          <a:p>
            <a:r>
              <a:t>El problema que abordamos es que los datos de licitaciones contienen registros incompletos, categorías poco frecuentes y una estructura que dificulta obtener conclusiones directamente. Nuestro objetivo fue construir un proceso de análisis confiable para estudiar cómo se relacionan las características de una licitación con sus resultados. La hipótesis principal plantea que los proveedores de mayor tamaño presentan un porcentaje de adjudicación superior al de los proveedores pequeños. También analizamos si los procedimientos de mayor cuantía tienen plazos de cierre más extensos y menores porcentajes de adjudicación.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MAURICIO</a:t>
            </a:r>
          </a:p>
          <a:p>
            <a:r>
              <a:t>El trabajo se desarrolló progresivamente en cuatro fases. En la Fase 1 realizamos la exploración inicial de los datos y definimos el problema. En la Fase 2 limpiamos, transformamos y validamos el conjunto de datos. En la Fase 3 reorganizamos la solución mediante programación orientada a objetos, comparamos distintos algoritmos para un mismo cálculo y optimizamos la lectura de los datos, midiendo la eficiencia de cada alternativa. Finalmente, en la Fase 4 construimos las visualizaciones utilizadas para comunicar los resultados. Todo el proceso quedó documentado para que pueda repetirse utilizando los mismos archivos y parámetros.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NAYADETH</a:t>
            </a:r>
          </a:p>
          <a:p>
            <a:r>
              <a:t>Para mejorar la confiabilidad, se implementaron reglas que permiten detectar datos faltantes, valores fuera de rango y categorías no reconocidas. También corregimos un caso importante: cuando el validador recibe una lista vacía de reglas, ahora informa que no existen reglas configuradas, en lugar de aplicar reglas predeterminadas sin advertirlo. La programación orientada a objetos permitió asignar una responsabilidad clara a cada componente. Por ejemplo, el lector obtiene los datos, el limpiador los prepara y el validador comprueba que cumplan las condiciones definidas. El encapsulamiento protege el estado interno de las clases. La herencia permite compartir comportamientos comunes y el polimorfismo permite ejecutar distintos tipos de validación mediante una interfaz similar.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VÍCTOR</a:t>
            </a:r>
          </a:p>
          <a:p>
            <a:r>
              <a:t>También evaluamos la eficiencia de la solución. La lectura selectiva de columnas redujo el tiempo aproximado del flujo completo desde 1.199 milisegundos hasta 506 milisegundos. La memoria ocupada por el conjunto de datos disminuyó desde aproximadamente 196 hasta 9 megabytes. También comparamos tres formas de calcular las proporciones: iterativa, recursiva y agrupada. Las tres entregan el mismo resultado y la agrupada fue la más rápida. Para comprobar el funcionamiento se ejecutaron 39 pruebas: 14 de las clases, 8 de los algoritmos, 7 de la lectura y 10 de las visualizaciones.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MAURICIO</a:t>
            </a:r>
          </a:p>
          <a:p>
            <a:r>
              <a:t>El primer resultado compara el porcentaje de adjudicación según el tamaño del proveedor. Los proveedores grandes alcanzaron un 66,8 %, mientras que las microempresas llegaron a un 52 %. Por lo tanto, la hipótesis se respalda en su dirección general: los proveedores grandes presentan mejores resultados. Sin embargo, la relación no es completamente progresiva entre todos los tamaños, por lo que no sería correcto afirmar que el porcentaje aumenta de manera uniforme en cada categoría.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NAYADETH</a:t>
            </a:r>
          </a:p>
          <a:p>
            <a:r>
              <a:t>En las licitaciones públicas superiores a 100 UTM observamos que el porcentaje de ofertas ganadoras disminuye a medida que aumenta la cuantía. La categoría LE alcanza un 62,3 %, LP un 56 % y LR un 51,5 %. Es una asociación descriptiva: con estos datos no podemos afirmar a qué se debe. Las categorías privadas presentan muy pocos registros, por lo que sus porcentajes no deben interpretarse como una tendencia estable.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VÍCTOR</a:t>
            </a:r>
          </a:p>
          <a:p>
            <a:r>
              <a:t>El tercer gráfico muestra que los plazos de cierre aumentan con la cuantía de la licitación. La mediana es de 7,2 días para L1, 11 días para LE, 20 días para LP y 32 días para LR. Calculamos el plazo por licitación y no por oferta, para que los procesos con más ofertas no pesen más. Es un resultado descriptivo: los procesos de mayor monto dan más tiempo para ofertar, pero los datos no explican la causa.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MAURICIO</a:t>
            </a:r>
          </a:p>
          <a:p>
            <a:r>
              <a:t>En conclusión, el proyecto permitió transformar datos administrativos complejos en información comprensible y reproducible. Los resultados respaldan parcialmente la hipótesis sobre el tamaño de los proveedores y muestran diferencias relevantes según la modalidad y cuantía de las licitaciones. No obstante, los porcentajes deben interpretarse como asociaciones descriptivas y no como relaciones causales. También es importante considerar el bajo número de observaciones de algunas categorías.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VÍCTOR</a:t>
            </a:r>
          </a:p>
          <a:p>
            <a:r>
              <a:t>Como trabajo futuro, proponemos incorporar nuevos periodos, controlar diferencias entre rubros y organismos compradores, e incluir variables como monto ofertado, ubicación y experiencia del proveedor. Estas mejoras permitirían comprender con mayor profundidad los factores asociados a la adjudicación. Muchas gracias.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A5C"/>
        </a:solidFill>
        <a:effectLst/>
      </p:bgPr>
    </p:bg>
    <p:spTree>
      <p:nvGrpSpPr>
        <p:cNvPr id="1" name=""/>
        <p:cNvGrpSpPr/>
        <p:nvPr/>
      </p:nvGrpSpPr>
      <p:grpSpPr>
        <a:xfrm>
          <a:off x="0" y="0"/>
          <a:ext cx="0" cy="0"/>
          <a:chOff x="0" y="0"/>
          <a:chExt cx="0" cy="0"/>
        </a:xfrm>
      </p:grpSpPr>
      <p:sp>
        <p:nvSpPr>
          <p:cNvPr id="2" name="TextBox 1"/>
          <p:cNvSpPr txBox="1"/>
          <p:nvPr/>
        </p:nvSpPr>
        <p:spPr>
          <a:xfrm>
            <a:off x="731520" y="731520"/>
            <a:ext cx="10058400" cy="365760"/>
          </a:xfrm>
          <a:prstGeom prst="rect">
            <a:avLst/>
          </a:prstGeom>
          <a:noFill/>
        </p:spPr>
        <p:txBody>
          <a:bodyPr wrap="square" lIns="0" tIns="0" rIns="0" bIns="0" anchor="t">
            <a:spAutoFit/>
          </a:bodyPr>
          <a:lstStyle/>
          <a:p>
            <a:pPr algn="l">
              <a:spcAft>
                <a:spcPts val="0"/>
              </a:spcAft>
            </a:pPr>
            <a:r>
              <a:rPr sz="1300" b="1" i="0">
                <a:solidFill>
                  <a:srgbClr val="C9D7E8"/>
                </a:solidFill>
                <a:latin typeface="Calibri"/>
              </a:rPr>
              <a:t>PROGRAMACIÓN PARA LA CIENCIA DE DATOS · PROYECTO FINAL ABP · FASE 4</a:t>
            </a:r>
          </a:p>
        </p:txBody>
      </p:sp>
      <p:sp>
        <p:nvSpPr>
          <p:cNvPr id="3" name="TextBox 2"/>
          <p:cNvSpPr txBox="1"/>
          <p:nvPr/>
        </p:nvSpPr>
        <p:spPr>
          <a:xfrm>
            <a:off x="731520" y="1554480"/>
            <a:ext cx="10515600" cy="1645920"/>
          </a:xfrm>
          <a:prstGeom prst="rect">
            <a:avLst/>
          </a:prstGeom>
          <a:noFill/>
        </p:spPr>
        <p:txBody>
          <a:bodyPr wrap="square" lIns="0" tIns="0" rIns="0" bIns="0" anchor="b">
            <a:spAutoFit/>
          </a:bodyPr>
          <a:lstStyle/>
          <a:p>
            <a:pPr algn="l">
              <a:spcAft>
                <a:spcPts val="0"/>
              </a:spcAft>
            </a:pPr>
            <a:r>
              <a:rPr sz="4800" b="1" i="0">
                <a:solidFill>
                  <a:srgbClr val="FFFFFF"/>
                </a:solidFill>
                <a:latin typeface="Cambria"/>
              </a:rPr>
              <a:t>Ofertas en licitaciones públicas del sector Salud</a:t>
            </a:r>
          </a:p>
        </p:txBody>
      </p:sp>
      <p:sp>
        <p:nvSpPr>
          <p:cNvPr id="4" name="TextBox 3"/>
          <p:cNvSpPr txBox="1"/>
          <p:nvPr/>
        </p:nvSpPr>
        <p:spPr>
          <a:xfrm>
            <a:off x="731520" y="3337560"/>
            <a:ext cx="10058400" cy="822960"/>
          </a:xfrm>
          <a:prstGeom prst="rect">
            <a:avLst/>
          </a:prstGeom>
          <a:noFill/>
        </p:spPr>
        <p:txBody>
          <a:bodyPr wrap="square" lIns="0" tIns="0" rIns="0" bIns="0" anchor="t">
            <a:spAutoFit/>
          </a:bodyPr>
          <a:lstStyle/>
          <a:p>
            <a:pPr algn="l">
              <a:spcAft>
                <a:spcPts val="0"/>
              </a:spcAft>
            </a:pPr>
            <a:r>
              <a:rPr sz="2000" b="0" i="0">
                <a:solidFill>
                  <a:srgbClr val="C9D7E8"/>
                </a:solidFill>
                <a:latin typeface="Calibri"/>
              </a:rPr>
              <a:t>Tamaño del proveedor, tipo de licitación y plazos de cierre en los datos abiertos de ChileCompra</a:t>
            </a:r>
          </a:p>
        </p:txBody>
      </p:sp>
      <p:sp>
        <p:nvSpPr>
          <p:cNvPr id="5" name="Oval 4"/>
          <p:cNvSpPr/>
          <p:nvPr/>
        </p:nvSpPr>
        <p:spPr>
          <a:xfrm>
            <a:off x="731520" y="4754880"/>
            <a:ext cx="640080" cy="6400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mbria"/>
              </a:rPr>
              <a:t>VB</a:t>
            </a:r>
          </a:p>
        </p:txBody>
      </p:sp>
      <p:sp>
        <p:nvSpPr>
          <p:cNvPr id="6" name="TextBox 5"/>
          <p:cNvSpPr txBox="1"/>
          <p:nvPr/>
        </p:nvSpPr>
        <p:spPr>
          <a:xfrm>
            <a:off x="1508760" y="4754880"/>
            <a:ext cx="2194560" cy="640080"/>
          </a:xfrm>
          <a:prstGeom prst="rect">
            <a:avLst/>
          </a:prstGeom>
          <a:noFill/>
        </p:spPr>
        <p:txBody>
          <a:bodyPr wrap="square" lIns="0" tIns="0" rIns="0" bIns="0" anchor="ctr">
            <a:spAutoFit/>
          </a:bodyPr>
          <a:lstStyle/>
          <a:p>
            <a:pPr algn="l">
              <a:spcAft>
                <a:spcPts val="0"/>
              </a:spcAft>
            </a:pPr>
            <a:r>
              <a:rPr sz="1700" b="1" i="0">
                <a:solidFill>
                  <a:srgbClr val="FFFFFF"/>
                </a:solidFill>
                <a:latin typeface="Calibri"/>
              </a:rPr>
              <a:t>Víctor Bravo</a:t>
            </a:r>
          </a:p>
        </p:txBody>
      </p:sp>
      <p:sp>
        <p:nvSpPr>
          <p:cNvPr id="7" name="Oval 6"/>
          <p:cNvSpPr/>
          <p:nvPr/>
        </p:nvSpPr>
        <p:spPr>
          <a:xfrm>
            <a:off x="3840480" y="4754880"/>
            <a:ext cx="640080" cy="6400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mbria"/>
              </a:rPr>
              <a:t>NG</a:t>
            </a:r>
          </a:p>
        </p:txBody>
      </p:sp>
      <p:sp>
        <p:nvSpPr>
          <p:cNvPr id="8" name="TextBox 7"/>
          <p:cNvSpPr txBox="1"/>
          <p:nvPr/>
        </p:nvSpPr>
        <p:spPr>
          <a:xfrm>
            <a:off x="4617720" y="4754880"/>
            <a:ext cx="2194560" cy="640080"/>
          </a:xfrm>
          <a:prstGeom prst="rect">
            <a:avLst/>
          </a:prstGeom>
          <a:noFill/>
        </p:spPr>
        <p:txBody>
          <a:bodyPr wrap="square" lIns="0" tIns="0" rIns="0" bIns="0" anchor="ctr">
            <a:spAutoFit/>
          </a:bodyPr>
          <a:lstStyle/>
          <a:p>
            <a:pPr algn="l">
              <a:spcAft>
                <a:spcPts val="0"/>
              </a:spcAft>
            </a:pPr>
            <a:r>
              <a:rPr sz="1700" b="1" i="0">
                <a:solidFill>
                  <a:srgbClr val="FFFFFF"/>
                </a:solidFill>
                <a:latin typeface="Calibri"/>
              </a:rPr>
              <a:t>Nayadeth Garrido</a:t>
            </a:r>
          </a:p>
        </p:txBody>
      </p:sp>
      <p:sp>
        <p:nvSpPr>
          <p:cNvPr id="9" name="Oval 8"/>
          <p:cNvSpPr/>
          <p:nvPr/>
        </p:nvSpPr>
        <p:spPr>
          <a:xfrm>
            <a:off x="6949440" y="4754880"/>
            <a:ext cx="640080" cy="64008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mbria"/>
              </a:rPr>
              <a:t>MC</a:t>
            </a:r>
          </a:p>
        </p:txBody>
      </p:sp>
      <p:sp>
        <p:nvSpPr>
          <p:cNvPr id="10" name="TextBox 9"/>
          <p:cNvSpPr txBox="1"/>
          <p:nvPr/>
        </p:nvSpPr>
        <p:spPr>
          <a:xfrm>
            <a:off x="7726679" y="4754880"/>
            <a:ext cx="2194560" cy="640080"/>
          </a:xfrm>
          <a:prstGeom prst="rect">
            <a:avLst/>
          </a:prstGeom>
          <a:noFill/>
        </p:spPr>
        <p:txBody>
          <a:bodyPr wrap="square" lIns="0" tIns="0" rIns="0" bIns="0" anchor="ctr">
            <a:spAutoFit/>
          </a:bodyPr>
          <a:lstStyle/>
          <a:p>
            <a:pPr algn="l">
              <a:spcAft>
                <a:spcPts val="0"/>
              </a:spcAft>
            </a:pPr>
            <a:r>
              <a:rPr sz="1700" b="1" i="0">
                <a:solidFill>
                  <a:srgbClr val="FFFFFF"/>
                </a:solidFill>
                <a:latin typeface="Calibri"/>
              </a:rPr>
              <a:t>Mauricio Cid</a:t>
            </a:r>
          </a:p>
        </p:txBody>
      </p:sp>
      <p:sp>
        <p:nvSpPr>
          <p:cNvPr id="11" name="TextBox 10"/>
          <p:cNvSpPr txBox="1"/>
          <p:nvPr/>
        </p:nvSpPr>
        <p:spPr>
          <a:xfrm>
            <a:off x="731520" y="5989320"/>
            <a:ext cx="10698480" cy="365760"/>
          </a:xfrm>
          <a:prstGeom prst="rect">
            <a:avLst/>
          </a:prstGeom>
          <a:noFill/>
        </p:spPr>
        <p:txBody>
          <a:bodyPr wrap="square" lIns="0" tIns="0" rIns="0" bIns="0" anchor="t">
            <a:spAutoFit/>
          </a:bodyPr>
          <a:lstStyle/>
          <a:p>
            <a:pPr algn="l">
              <a:spcAft>
                <a:spcPts val="0"/>
              </a:spcAft>
            </a:pPr>
            <a:r>
              <a:rPr sz="1300" b="0" i="0">
                <a:solidFill>
                  <a:srgbClr val="C9D7E8"/>
                </a:solidFill>
                <a:latin typeface="Calibri"/>
              </a:rPr>
              <a:t>Grupo 5 · Datos: ChileCompra, sector Salud, marzo de 2026 · Octubre de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8778240" cy="731520"/>
          </a:xfrm>
          <a:prstGeom prst="rect">
            <a:avLst/>
          </a:prstGeom>
          <a:noFill/>
        </p:spPr>
        <p:txBody>
          <a:bodyPr wrap="square" lIns="0" tIns="0" rIns="0" bIns="0" anchor="ctr">
            <a:spAutoFit/>
          </a:bodyPr>
          <a:lstStyle/>
          <a:p>
            <a:pPr algn="l">
              <a:spcAft>
                <a:spcPts val="0"/>
              </a:spcAft>
            </a:pPr>
            <a:r>
              <a:rPr sz="3400" b="1" i="0">
                <a:solidFill>
                  <a:srgbClr val="1B3A5C"/>
                </a:solidFill>
                <a:latin typeface="Cambria"/>
              </a:rPr>
              <a:t>Problema, objetivo e hipótesis</a:t>
            </a:r>
          </a:p>
        </p:txBody>
      </p:sp>
      <p:sp>
        <p:nvSpPr>
          <p:cNvPr id="4" name="TextBox 3"/>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000" b="0" i="0">
                <a:solidFill>
                  <a:srgbClr val="5B677A"/>
                </a:solidFill>
                <a:latin typeface="Calibri"/>
              </a:rPr>
              <a:t>Grupo 5 · Programación para la Ciencia de Datos</a:t>
            </a:r>
          </a:p>
        </p:txBody>
      </p:sp>
      <p:sp>
        <p:nvSpPr>
          <p:cNvPr id="5" name="TextBox 4"/>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B677A"/>
                </a:solidFill>
                <a:latin typeface="Calibri"/>
              </a:rPr>
              <a:t>2 / 10</a:t>
            </a:r>
          </a:p>
        </p:txBody>
      </p:sp>
      <p:sp>
        <p:nvSpPr>
          <p:cNvPr id="6" name="Rounded Rectangle 5"/>
          <p:cNvSpPr/>
          <p:nvPr/>
        </p:nvSpPr>
        <p:spPr>
          <a:xfrm>
            <a:off x="548640" y="1508760"/>
            <a:ext cx="3474720" cy="35661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8680" y="1783080"/>
            <a:ext cx="685800" cy="6858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a:t>
            </a:r>
          </a:p>
        </p:txBody>
      </p:sp>
      <p:sp>
        <p:nvSpPr>
          <p:cNvPr id="8" name="TextBox 7"/>
          <p:cNvSpPr txBox="1"/>
          <p:nvPr/>
        </p:nvSpPr>
        <p:spPr>
          <a:xfrm>
            <a:off x="868680" y="2651760"/>
            <a:ext cx="2834640" cy="457200"/>
          </a:xfrm>
          <a:prstGeom prst="rect">
            <a:avLst/>
          </a:prstGeom>
          <a:noFill/>
        </p:spPr>
        <p:txBody>
          <a:bodyPr wrap="square" lIns="0" tIns="0" rIns="0" bIns="0" anchor="t">
            <a:spAutoFit/>
          </a:bodyPr>
          <a:lstStyle/>
          <a:p>
            <a:pPr algn="l">
              <a:spcAft>
                <a:spcPts val="0"/>
              </a:spcAft>
            </a:pPr>
            <a:r>
              <a:rPr sz="2200" b="1" i="0">
                <a:solidFill>
                  <a:srgbClr val="1B3A5C"/>
                </a:solidFill>
                <a:latin typeface="Cambria"/>
              </a:rPr>
              <a:t>Problema</a:t>
            </a:r>
          </a:p>
        </p:txBody>
      </p:sp>
      <p:sp>
        <p:nvSpPr>
          <p:cNvPr id="9" name="TextBox 8"/>
          <p:cNvSpPr txBox="1"/>
          <p:nvPr/>
        </p:nvSpPr>
        <p:spPr>
          <a:xfrm>
            <a:off x="868680" y="3200400"/>
            <a:ext cx="2880360" cy="1828800"/>
          </a:xfrm>
          <a:prstGeom prst="rect">
            <a:avLst/>
          </a:prstGeom>
          <a:noFill/>
        </p:spPr>
        <p:txBody>
          <a:bodyPr wrap="square" lIns="0" tIns="0" rIns="0" bIns="0" anchor="t">
            <a:spAutoFit/>
          </a:bodyPr>
          <a:lstStyle/>
          <a:p>
            <a:pPr algn="l">
              <a:spcAft>
                <a:spcPts val="800"/>
              </a:spcAft>
            </a:pPr>
            <a:r>
              <a:rPr sz="1500" b="0" i="0">
                <a:solidFill>
                  <a:srgbClr val="1A2433"/>
                </a:solidFill>
                <a:latin typeface="Calibri"/>
              </a:rPr>
              <a:t>Registros incompletos, categorías poco frecuentes y una estructura que impide obtener conclusiones directas.</a:t>
            </a:r>
          </a:p>
        </p:txBody>
      </p:sp>
      <p:sp>
        <p:nvSpPr>
          <p:cNvPr id="10" name="Rounded Rectangle 9"/>
          <p:cNvSpPr/>
          <p:nvPr/>
        </p:nvSpPr>
        <p:spPr>
          <a:xfrm>
            <a:off x="4297679" y="1508760"/>
            <a:ext cx="3474720" cy="35661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617719" y="1783080"/>
            <a:ext cx="685800" cy="6858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a:t>
            </a:r>
          </a:p>
        </p:txBody>
      </p:sp>
      <p:sp>
        <p:nvSpPr>
          <p:cNvPr id="12" name="TextBox 11"/>
          <p:cNvSpPr txBox="1"/>
          <p:nvPr/>
        </p:nvSpPr>
        <p:spPr>
          <a:xfrm>
            <a:off x="4617719" y="2651760"/>
            <a:ext cx="2834640" cy="457200"/>
          </a:xfrm>
          <a:prstGeom prst="rect">
            <a:avLst/>
          </a:prstGeom>
          <a:noFill/>
        </p:spPr>
        <p:txBody>
          <a:bodyPr wrap="square" lIns="0" tIns="0" rIns="0" bIns="0" anchor="t">
            <a:spAutoFit/>
          </a:bodyPr>
          <a:lstStyle/>
          <a:p>
            <a:pPr algn="l">
              <a:spcAft>
                <a:spcPts val="0"/>
              </a:spcAft>
            </a:pPr>
            <a:r>
              <a:rPr sz="2200" b="1" i="0">
                <a:solidFill>
                  <a:srgbClr val="1B3A5C"/>
                </a:solidFill>
                <a:latin typeface="Cambria"/>
              </a:rPr>
              <a:t>Objetivo</a:t>
            </a:r>
          </a:p>
        </p:txBody>
      </p:sp>
      <p:sp>
        <p:nvSpPr>
          <p:cNvPr id="13" name="TextBox 12"/>
          <p:cNvSpPr txBox="1"/>
          <p:nvPr/>
        </p:nvSpPr>
        <p:spPr>
          <a:xfrm>
            <a:off x="4617719" y="3200400"/>
            <a:ext cx="2880360" cy="1828800"/>
          </a:xfrm>
          <a:prstGeom prst="rect">
            <a:avLst/>
          </a:prstGeom>
          <a:noFill/>
        </p:spPr>
        <p:txBody>
          <a:bodyPr wrap="square" lIns="0" tIns="0" rIns="0" bIns="0" anchor="t">
            <a:spAutoFit/>
          </a:bodyPr>
          <a:lstStyle/>
          <a:p>
            <a:pPr algn="l">
              <a:spcAft>
                <a:spcPts val="800"/>
              </a:spcAft>
            </a:pPr>
            <a:r>
              <a:rPr sz="1500" b="0" i="0">
                <a:solidFill>
                  <a:srgbClr val="1A2433"/>
                </a:solidFill>
                <a:latin typeface="Calibri"/>
              </a:rPr>
              <a:t>Construir un proceso de análisis confiable que relacione las características de una licitación con sus resultados.</a:t>
            </a:r>
          </a:p>
        </p:txBody>
      </p:sp>
      <p:sp>
        <p:nvSpPr>
          <p:cNvPr id="14" name="Rounded Rectangle 13"/>
          <p:cNvSpPr/>
          <p:nvPr/>
        </p:nvSpPr>
        <p:spPr>
          <a:xfrm>
            <a:off x="8046719" y="1508760"/>
            <a:ext cx="3474720" cy="35661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366759" y="1783080"/>
            <a:ext cx="685800" cy="6858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H</a:t>
            </a:r>
          </a:p>
        </p:txBody>
      </p:sp>
      <p:sp>
        <p:nvSpPr>
          <p:cNvPr id="16" name="TextBox 15"/>
          <p:cNvSpPr txBox="1"/>
          <p:nvPr/>
        </p:nvSpPr>
        <p:spPr>
          <a:xfrm>
            <a:off x="8366759" y="2651760"/>
            <a:ext cx="2834640" cy="457200"/>
          </a:xfrm>
          <a:prstGeom prst="rect">
            <a:avLst/>
          </a:prstGeom>
          <a:noFill/>
        </p:spPr>
        <p:txBody>
          <a:bodyPr wrap="square" lIns="0" tIns="0" rIns="0" bIns="0" anchor="t">
            <a:spAutoFit/>
          </a:bodyPr>
          <a:lstStyle/>
          <a:p>
            <a:pPr algn="l">
              <a:spcAft>
                <a:spcPts val="0"/>
              </a:spcAft>
            </a:pPr>
            <a:r>
              <a:rPr sz="2200" b="1" i="0">
                <a:solidFill>
                  <a:srgbClr val="1B3A5C"/>
                </a:solidFill>
                <a:latin typeface="Cambria"/>
              </a:rPr>
              <a:t>Hipótesis</a:t>
            </a:r>
          </a:p>
        </p:txBody>
      </p:sp>
      <p:sp>
        <p:nvSpPr>
          <p:cNvPr id="17" name="TextBox 16"/>
          <p:cNvSpPr txBox="1"/>
          <p:nvPr/>
        </p:nvSpPr>
        <p:spPr>
          <a:xfrm>
            <a:off x="8366759" y="3200400"/>
            <a:ext cx="2880360" cy="1828800"/>
          </a:xfrm>
          <a:prstGeom prst="rect">
            <a:avLst/>
          </a:prstGeom>
          <a:noFill/>
        </p:spPr>
        <p:txBody>
          <a:bodyPr wrap="square" lIns="0" tIns="0" rIns="0" bIns="0" anchor="t">
            <a:spAutoFit/>
          </a:bodyPr>
          <a:lstStyle/>
          <a:p>
            <a:pPr algn="l">
              <a:spcAft>
                <a:spcPts val="800"/>
              </a:spcAft>
            </a:pPr>
            <a:r>
              <a:rPr sz="1500" b="1" i="0">
                <a:solidFill>
                  <a:srgbClr val="1F4E79"/>
                </a:solidFill>
                <a:latin typeface="Calibri"/>
              </a:rPr>
              <a:t>H1 </a:t>
            </a:r>
            <a:r>
              <a:rPr sz="1500" b="0" i="0">
                <a:solidFill>
                  <a:srgbClr val="1A2433"/>
                </a:solidFill>
                <a:latin typeface="Calibri"/>
              </a:rPr>
              <a:t>Los proveedores grandes logran más adjudicaciones que los pequeños.</a:t>
            </a:r>
          </a:p>
          <a:p>
            <a:pPr algn="l">
              <a:spcAft>
                <a:spcPts val="800"/>
              </a:spcAft>
            </a:pPr>
            <a:r>
              <a:rPr sz="1500" b="1" i="0">
                <a:solidFill>
                  <a:srgbClr val="1F4E79"/>
                </a:solidFill>
                <a:latin typeface="Calibri"/>
              </a:rPr>
              <a:t>H2 </a:t>
            </a:r>
            <a:r>
              <a:rPr sz="1500" b="0" i="0">
                <a:solidFill>
                  <a:srgbClr val="1A2433"/>
                </a:solidFill>
                <a:latin typeface="Calibri"/>
              </a:rPr>
              <a:t>A mayor cuantía, plazos más largos y menos adjudicaciones.</a:t>
            </a:r>
          </a:p>
        </p:txBody>
      </p:sp>
      <p:sp>
        <p:nvSpPr>
          <p:cNvPr id="18" name="Rounded Rectangle 17"/>
          <p:cNvSpPr/>
          <p:nvPr/>
        </p:nvSpPr>
        <p:spPr>
          <a:xfrm>
            <a:off x="548640" y="5349240"/>
            <a:ext cx="11064240" cy="777240"/>
          </a:xfrm>
          <a:prstGeom prst="roundRect">
            <a:avLst>
              <a:gd name="adj" fmla="val 15000"/>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5349240"/>
            <a:ext cx="10515600" cy="777240"/>
          </a:xfrm>
          <a:prstGeom prst="rect">
            <a:avLst/>
          </a:prstGeom>
          <a:noFill/>
        </p:spPr>
        <p:txBody>
          <a:bodyPr wrap="square" lIns="0" tIns="0" rIns="0" bIns="0" anchor="ctr">
            <a:spAutoFit/>
          </a:bodyPr>
          <a:lstStyle/>
          <a:p>
            <a:pPr algn="l">
              <a:spcAft>
                <a:spcPts val="0"/>
              </a:spcAft>
            </a:pPr>
            <a:r>
              <a:rPr sz="1500" b="1" i="0">
                <a:solidFill>
                  <a:srgbClr val="FFFFFF"/>
                </a:solidFill>
                <a:latin typeface="Calibri"/>
              </a:rPr>
              <a:t>Dataset: </a:t>
            </a:r>
            <a:r>
              <a:rPr sz="1500" b="0" i="0">
                <a:solidFill>
                  <a:srgbClr val="FFFFFF"/>
                </a:solidFill>
                <a:latin typeface="Calibri"/>
              </a:rPr>
              <a:t>44.226 ofertas × 74 columnas · ChileCompra, sector Salud, marzo de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8778240" cy="731520"/>
          </a:xfrm>
          <a:prstGeom prst="rect">
            <a:avLst/>
          </a:prstGeom>
          <a:noFill/>
        </p:spPr>
        <p:txBody>
          <a:bodyPr wrap="square" lIns="0" tIns="0" rIns="0" bIns="0" anchor="ctr">
            <a:spAutoFit/>
          </a:bodyPr>
          <a:lstStyle/>
          <a:p>
            <a:pPr algn="l">
              <a:spcAft>
                <a:spcPts val="0"/>
              </a:spcAft>
            </a:pPr>
            <a:r>
              <a:rPr sz="3400" b="1" i="0">
                <a:solidFill>
                  <a:srgbClr val="1B3A5C"/>
                </a:solidFill>
                <a:latin typeface="Cambria"/>
              </a:rPr>
              <a:t>Metodología en cuatro fases</a:t>
            </a:r>
          </a:p>
        </p:txBody>
      </p:sp>
      <p:sp>
        <p:nvSpPr>
          <p:cNvPr id="4" name="TextBox 3"/>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000" b="0" i="0">
                <a:solidFill>
                  <a:srgbClr val="5B677A"/>
                </a:solidFill>
                <a:latin typeface="Calibri"/>
              </a:rPr>
              <a:t>Grupo 5 · Programación para la Ciencia de Datos</a:t>
            </a:r>
          </a:p>
        </p:txBody>
      </p:sp>
      <p:sp>
        <p:nvSpPr>
          <p:cNvPr id="5" name="TextBox 4"/>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B677A"/>
                </a:solidFill>
                <a:latin typeface="Calibri"/>
              </a:rPr>
              <a:t>3 / 10</a:t>
            </a:r>
          </a:p>
        </p:txBody>
      </p:sp>
      <p:cxnSp>
        <p:nvCxnSpPr>
          <p:cNvPr id="6" name="Connector 5"/>
          <p:cNvCxnSpPr/>
          <p:nvPr/>
        </p:nvCxnSpPr>
        <p:spPr>
          <a:xfrm>
            <a:off x="1280160" y="2148840"/>
            <a:ext cx="9601200" cy="0"/>
          </a:xfrm>
          <a:prstGeom prst="line">
            <a:avLst/>
          </a:prstGeom>
          <a:ln w="38100">
            <a:solidFill>
              <a:srgbClr val="A3B8D4"/>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68680" y="1645920"/>
            <a:ext cx="1005840" cy="10058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F1</a:t>
            </a:r>
          </a:p>
        </p:txBody>
      </p:sp>
      <p:sp>
        <p:nvSpPr>
          <p:cNvPr id="8" name="TextBox 7"/>
          <p:cNvSpPr txBox="1"/>
          <p:nvPr/>
        </p:nvSpPr>
        <p:spPr>
          <a:xfrm>
            <a:off x="548640" y="2880360"/>
            <a:ext cx="2560320" cy="457200"/>
          </a:xfrm>
          <a:prstGeom prst="rect">
            <a:avLst/>
          </a:prstGeom>
          <a:noFill/>
        </p:spPr>
        <p:txBody>
          <a:bodyPr wrap="square" lIns="0" tIns="0" rIns="0" bIns="0" anchor="t">
            <a:spAutoFit/>
          </a:bodyPr>
          <a:lstStyle/>
          <a:p>
            <a:pPr algn="l">
              <a:spcAft>
                <a:spcPts val="0"/>
              </a:spcAft>
            </a:pPr>
            <a:r>
              <a:rPr sz="2000" b="1" i="0">
                <a:solidFill>
                  <a:srgbClr val="1B3A5C"/>
                </a:solidFill>
                <a:latin typeface="Cambria"/>
              </a:rPr>
              <a:t>Definición</a:t>
            </a:r>
          </a:p>
        </p:txBody>
      </p:sp>
      <p:sp>
        <p:nvSpPr>
          <p:cNvPr id="9" name="TextBox 8"/>
          <p:cNvSpPr txBox="1"/>
          <p:nvPr/>
        </p:nvSpPr>
        <p:spPr>
          <a:xfrm>
            <a:off x="548640" y="3383280"/>
            <a:ext cx="2514600" cy="1280160"/>
          </a:xfrm>
          <a:prstGeom prst="rect">
            <a:avLst/>
          </a:prstGeom>
          <a:noFill/>
        </p:spPr>
        <p:txBody>
          <a:bodyPr wrap="square" lIns="0" tIns="0" rIns="0" bIns="0" anchor="t">
            <a:spAutoFit/>
          </a:bodyPr>
          <a:lstStyle/>
          <a:p>
            <a:pPr algn="l">
              <a:spcAft>
                <a:spcPts val="0"/>
              </a:spcAft>
            </a:pPr>
            <a:r>
              <a:rPr sz="1500" b="0" i="0">
                <a:solidFill>
                  <a:srgbClr val="1A2433"/>
                </a:solidFill>
                <a:latin typeface="Calibri"/>
              </a:rPr>
              <a:t>Exploración inicial de los datos y formulación del problema.</a:t>
            </a:r>
          </a:p>
        </p:txBody>
      </p:sp>
      <p:sp>
        <p:nvSpPr>
          <p:cNvPr id="10" name="Oval 9"/>
          <p:cNvSpPr/>
          <p:nvPr/>
        </p:nvSpPr>
        <p:spPr>
          <a:xfrm>
            <a:off x="3703320" y="1645920"/>
            <a:ext cx="1005840" cy="10058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F2</a:t>
            </a:r>
          </a:p>
        </p:txBody>
      </p:sp>
      <p:sp>
        <p:nvSpPr>
          <p:cNvPr id="11" name="TextBox 10"/>
          <p:cNvSpPr txBox="1"/>
          <p:nvPr/>
        </p:nvSpPr>
        <p:spPr>
          <a:xfrm>
            <a:off x="3383280" y="2880360"/>
            <a:ext cx="2560320" cy="457200"/>
          </a:xfrm>
          <a:prstGeom prst="rect">
            <a:avLst/>
          </a:prstGeom>
          <a:noFill/>
        </p:spPr>
        <p:txBody>
          <a:bodyPr wrap="square" lIns="0" tIns="0" rIns="0" bIns="0" anchor="t">
            <a:spAutoFit/>
          </a:bodyPr>
          <a:lstStyle/>
          <a:p>
            <a:pPr algn="l">
              <a:spcAft>
                <a:spcPts val="0"/>
              </a:spcAft>
            </a:pPr>
            <a:r>
              <a:rPr sz="2000" b="1" i="0">
                <a:solidFill>
                  <a:srgbClr val="1B3A5C"/>
                </a:solidFill>
                <a:latin typeface="Cambria"/>
              </a:rPr>
              <a:t>Preprocesamiento</a:t>
            </a:r>
          </a:p>
        </p:txBody>
      </p:sp>
      <p:sp>
        <p:nvSpPr>
          <p:cNvPr id="12" name="TextBox 11"/>
          <p:cNvSpPr txBox="1"/>
          <p:nvPr/>
        </p:nvSpPr>
        <p:spPr>
          <a:xfrm>
            <a:off x="3383280" y="3383280"/>
            <a:ext cx="2514600" cy="1280160"/>
          </a:xfrm>
          <a:prstGeom prst="rect">
            <a:avLst/>
          </a:prstGeom>
          <a:noFill/>
        </p:spPr>
        <p:txBody>
          <a:bodyPr wrap="square" lIns="0" tIns="0" rIns="0" bIns="0" anchor="t">
            <a:spAutoFit/>
          </a:bodyPr>
          <a:lstStyle/>
          <a:p>
            <a:pPr algn="l">
              <a:spcAft>
                <a:spcPts val="0"/>
              </a:spcAft>
            </a:pPr>
            <a:r>
              <a:rPr sz="1500" b="0" i="0">
                <a:solidFill>
                  <a:srgbClr val="1A2433"/>
                </a:solidFill>
                <a:latin typeface="Calibri"/>
              </a:rPr>
              <a:t>Limpieza, transformación y validación del dataset.</a:t>
            </a:r>
          </a:p>
        </p:txBody>
      </p:sp>
      <p:sp>
        <p:nvSpPr>
          <p:cNvPr id="13" name="Oval 12"/>
          <p:cNvSpPr/>
          <p:nvPr/>
        </p:nvSpPr>
        <p:spPr>
          <a:xfrm>
            <a:off x="6537959" y="1645920"/>
            <a:ext cx="1005840" cy="10058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F3</a:t>
            </a:r>
          </a:p>
        </p:txBody>
      </p:sp>
      <p:sp>
        <p:nvSpPr>
          <p:cNvPr id="14" name="TextBox 13"/>
          <p:cNvSpPr txBox="1"/>
          <p:nvPr/>
        </p:nvSpPr>
        <p:spPr>
          <a:xfrm>
            <a:off x="6217920" y="2880360"/>
            <a:ext cx="2560320" cy="457200"/>
          </a:xfrm>
          <a:prstGeom prst="rect">
            <a:avLst/>
          </a:prstGeom>
          <a:noFill/>
        </p:spPr>
        <p:txBody>
          <a:bodyPr wrap="square" lIns="0" tIns="0" rIns="0" bIns="0" anchor="t">
            <a:spAutoFit/>
          </a:bodyPr>
          <a:lstStyle/>
          <a:p>
            <a:pPr algn="l">
              <a:spcAft>
                <a:spcPts val="0"/>
              </a:spcAft>
            </a:pPr>
            <a:r>
              <a:rPr sz="2000" b="1" i="0">
                <a:solidFill>
                  <a:srgbClr val="1B3A5C"/>
                </a:solidFill>
                <a:latin typeface="Cambria"/>
              </a:rPr>
              <a:t>Algoritmos y POO</a:t>
            </a:r>
          </a:p>
        </p:txBody>
      </p:sp>
      <p:sp>
        <p:nvSpPr>
          <p:cNvPr id="15" name="TextBox 14"/>
          <p:cNvSpPr txBox="1"/>
          <p:nvPr/>
        </p:nvSpPr>
        <p:spPr>
          <a:xfrm>
            <a:off x="6217920" y="3383280"/>
            <a:ext cx="2514600" cy="1280160"/>
          </a:xfrm>
          <a:prstGeom prst="rect">
            <a:avLst/>
          </a:prstGeom>
          <a:noFill/>
        </p:spPr>
        <p:txBody>
          <a:bodyPr wrap="square" lIns="0" tIns="0" rIns="0" bIns="0" anchor="t">
            <a:spAutoFit/>
          </a:bodyPr>
          <a:lstStyle/>
          <a:p>
            <a:pPr algn="l">
              <a:spcAft>
                <a:spcPts val="0"/>
              </a:spcAft>
            </a:pPr>
            <a:r>
              <a:rPr sz="1500" b="0" i="0">
                <a:solidFill>
                  <a:srgbClr val="1A2433"/>
                </a:solidFill>
                <a:latin typeface="Calibri"/>
              </a:rPr>
              <a:t>Clases de lectura, limpieza y validación; algoritmos y lectura medidos.</a:t>
            </a:r>
          </a:p>
        </p:txBody>
      </p:sp>
      <p:sp>
        <p:nvSpPr>
          <p:cNvPr id="16" name="Oval 15"/>
          <p:cNvSpPr/>
          <p:nvPr/>
        </p:nvSpPr>
        <p:spPr>
          <a:xfrm>
            <a:off x="9372600" y="1645920"/>
            <a:ext cx="1005840" cy="1005840"/>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F4</a:t>
            </a:r>
          </a:p>
        </p:txBody>
      </p:sp>
      <p:sp>
        <p:nvSpPr>
          <p:cNvPr id="17" name="TextBox 16"/>
          <p:cNvSpPr txBox="1"/>
          <p:nvPr/>
        </p:nvSpPr>
        <p:spPr>
          <a:xfrm>
            <a:off x="9052560" y="2880360"/>
            <a:ext cx="2560320" cy="457200"/>
          </a:xfrm>
          <a:prstGeom prst="rect">
            <a:avLst/>
          </a:prstGeom>
          <a:noFill/>
        </p:spPr>
        <p:txBody>
          <a:bodyPr wrap="square" lIns="0" tIns="0" rIns="0" bIns="0" anchor="t">
            <a:spAutoFit/>
          </a:bodyPr>
          <a:lstStyle/>
          <a:p>
            <a:pPr algn="l">
              <a:spcAft>
                <a:spcPts val="0"/>
              </a:spcAft>
            </a:pPr>
            <a:r>
              <a:rPr sz="2000" b="1" i="0">
                <a:solidFill>
                  <a:srgbClr val="1B3A5C"/>
                </a:solidFill>
                <a:latin typeface="Cambria"/>
              </a:rPr>
              <a:t>Comunicación</a:t>
            </a:r>
          </a:p>
        </p:txBody>
      </p:sp>
      <p:sp>
        <p:nvSpPr>
          <p:cNvPr id="18" name="TextBox 17"/>
          <p:cNvSpPr txBox="1"/>
          <p:nvPr/>
        </p:nvSpPr>
        <p:spPr>
          <a:xfrm>
            <a:off x="9052560" y="3383280"/>
            <a:ext cx="2514600" cy="1280160"/>
          </a:xfrm>
          <a:prstGeom prst="rect">
            <a:avLst/>
          </a:prstGeom>
          <a:noFill/>
        </p:spPr>
        <p:txBody>
          <a:bodyPr wrap="square" lIns="0" tIns="0" rIns="0" bIns="0" anchor="t">
            <a:spAutoFit/>
          </a:bodyPr>
          <a:lstStyle/>
          <a:p>
            <a:pPr algn="l">
              <a:spcAft>
                <a:spcPts val="0"/>
              </a:spcAft>
            </a:pPr>
            <a:r>
              <a:rPr sz="1500" b="0" i="0">
                <a:solidFill>
                  <a:srgbClr val="1A2433"/>
                </a:solidFill>
                <a:latin typeface="Calibri"/>
              </a:rPr>
              <a:t>Tres visualizaciones y comunicación de los resultados.</a:t>
            </a:r>
          </a:p>
        </p:txBody>
      </p:sp>
      <p:sp>
        <p:nvSpPr>
          <p:cNvPr id="19" name="Rounded Rectangle 18"/>
          <p:cNvSpPr/>
          <p:nvPr/>
        </p:nvSpPr>
        <p:spPr>
          <a:xfrm>
            <a:off x="548640" y="5029200"/>
            <a:ext cx="11064240" cy="1005840"/>
          </a:xfrm>
          <a:prstGeom prst="roundRect">
            <a:avLst>
              <a:gd name="adj" fmla="val 1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029200"/>
            <a:ext cx="10515600" cy="1005840"/>
          </a:xfrm>
          <a:prstGeom prst="rect">
            <a:avLst/>
          </a:prstGeom>
          <a:noFill/>
        </p:spPr>
        <p:txBody>
          <a:bodyPr wrap="square" lIns="0" tIns="0" rIns="0" bIns="0" anchor="ctr">
            <a:spAutoFit/>
          </a:bodyPr>
          <a:lstStyle/>
          <a:p>
            <a:pPr algn="l">
              <a:spcAft>
                <a:spcPts val="0"/>
              </a:spcAft>
            </a:pPr>
            <a:r>
              <a:rPr sz="1500" b="1" i="0">
                <a:solidFill>
                  <a:srgbClr val="1B3A5C"/>
                </a:solidFill>
                <a:latin typeface="Calibri"/>
              </a:rPr>
              <a:t>Reproducible: entorno virtual con requirements.txt, notebooks por fase, scripts de verificación y control de versiones con Git/GitHub y changelog.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8778240" cy="731520"/>
          </a:xfrm>
          <a:prstGeom prst="rect">
            <a:avLst/>
          </a:prstGeom>
          <a:noFill/>
        </p:spPr>
        <p:txBody>
          <a:bodyPr wrap="square" lIns="0" tIns="0" rIns="0" bIns="0" anchor="ctr">
            <a:spAutoFit/>
          </a:bodyPr>
          <a:lstStyle/>
          <a:p>
            <a:pPr algn="l">
              <a:spcAft>
                <a:spcPts val="0"/>
              </a:spcAft>
            </a:pPr>
            <a:r>
              <a:rPr sz="3400" b="1" i="0">
                <a:solidFill>
                  <a:srgbClr val="1B3A5C"/>
                </a:solidFill>
                <a:latin typeface="Cambria"/>
              </a:rPr>
              <a:t>Limpieza, validación y POO</a:t>
            </a:r>
          </a:p>
        </p:txBody>
      </p:sp>
      <p:sp>
        <p:nvSpPr>
          <p:cNvPr id="4" name="TextBox 3"/>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000" b="0" i="0">
                <a:solidFill>
                  <a:srgbClr val="5B677A"/>
                </a:solidFill>
                <a:latin typeface="Calibri"/>
              </a:rPr>
              <a:t>Grupo 5 · Programación para la Ciencia de Datos</a:t>
            </a:r>
          </a:p>
        </p:txBody>
      </p:sp>
      <p:sp>
        <p:nvSpPr>
          <p:cNvPr id="5" name="TextBox 4"/>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B677A"/>
                </a:solidFill>
                <a:latin typeface="Calibri"/>
              </a:rPr>
              <a:t>4 / 10</a:t>
            </a:r>
          </a:p>
        </p:txBody>
      </p:sp>
      <p:sp>
        <p:nvSpPr>
          <p:cNvPr id="6" name="TextBox 5"/>
          <p:cNvSpPr txBox="1"/>
          <p:nvPr/>
        </p:nvSpPr>
        <p:spPr>
          <a:xfrm>
            <a:off x="548640" y="1463040"/>
            <a:ext cx="6400800" cy="365760"/>
          </a:xfrm>
          <a:prstGeom prst="rect">
            <a:avLst/>
          </a:prstGeom>
          <a:noFill/>
        </p:spPr>
        <p:txBody>
          <a:bodyPr wrap="square" lIns="0" tIns="0" rIns="0" bIns="0" anchor="t">
            <a:spAutoFit/>
          </a:bodyPr>
          <a:lstStyle/>
          <a:p>
            <a:pPr algn="l">
              <a:spcAft>
                <a:spcPts val="0"/>
              </a:spcAft>
            </a:pPr>
            <a:r>
              <a:rPr sz="1800" b="1" i="0">
                <a:solidFill>
                  <a:srgbClr val="1B3A5C"/>
                </a:solidFill>
                <a:latin typeface="Cambria"/>
              </a:rPr>
              <a:t>Flujo de responsabilidades</a:t>
            </a:r>
          </a:p>
        </p:txBody>
      </p:sp>
      <p:sp>
        <p:nvSpPr>
          <p:cNvPr id="7" name="Rounded Rectangle 6"/>
          <p:cNvSpPr/>
          <p:nvPr/>
        </p:nvSpPr>
        <p:spPr>
          <a:xfrm>
            <a:off x="548640" y="1965960"/>
            <a:ext cx="1554480" cy="11430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057400"/>
            <a:ext cx="1554480" cy="457200"/>
          </a:xfrm>
          <a:prstGeom prst="rect">
            <a:avLst/>
          </a:prstGeom>
          <a:noFill/>
        </p:spPr>
        <p:txBody>
          <a:bodyPr wrap="square" lIns="0" tIns="0" rIns="0" bIns="0" anchor="t">
            <a:spAutoFit/>
          </a:bodyPr>
          <a:lstStyle/>
          <a:p>
            <a:pPr algn="ctr">
              <a:spcAft>
                <a:spcPts val="0"/>
              </a:spcAft>
            </a:pPr>
            <a:r>
              <a:rPr sz="1600" b="1" i="0">
                <a:solidFill>
                  <a:srgbClr val="FFFFFF"/>
                </a:solidFill>
                <a:latin typeface="Calibri"/>
              </a:rPr>
              <a:t>Lector</a:t>
            </a:r>
          </a:p>
        </p:txBody>
      </p:sp>
      <p:sp>
        <p:nvSpPr>
          <p:cNvPr id="9" name="TextBox 8"/>
          <p:cNvSpPr txBox="1"/>
          <p:nvPr/>
        </p:nvSpPr>
        <p:spPr>
          <a:xfrm>
            <a:off x="640080" y="2487168"/>
            <a:ext cx="1371600" cy="548640"/>
          </a:xfrm>
          <a:prstGeom prst="rect">
            <a:avLst/>
          </a:prstGeom>
          <a:noFill/>
        </p:spPr>
        <p:txBody>
          <a:bodyPr wrap="square" lIns="0" tIns="0" rIns="0" bIns="0" anchor="t">
            <a:spAutoFit/>
          </a:bodyPr>
          <a:lstStyle/>
          <a:p>
            <a:pPr algn="ctr">
              <a:spcAft>
                <a:spcPts val="0"/>
              </a:spcAft>
            </a:pPr>
            <a:r>
              <a:rPr sz="1200" b="0" i="0">
                <a:solidFill>
                  <a:srgbClr val="C9D7E8"/>
                </a:solidFill>
                <a:latin typeface="Calibri"/>
              </a:rPr>
              <a:t>obtiene los datos</a:t>
            </a:r>
          </a:p>
        </p:txBody>
      </p:sp>
      <p:sp>
        <p:nvSpPr>
          <p:cNvPr id="10" name="Right Arrow 9"/>
          <p:cNvSpPr/>
          <p:nvPr/>
        </p:nvSpPr>
        <p:spPr>
          <a:xfrm>
            <a:off x="2121408" y="2395728"/>
            <a:ext cx="192024" cy="274320"/>
          </a:xfrm>
          <a:prstGeom prst="rightArrow">
            <a:avLst/>
          </a:prstGeom>
          <a:solidFill>
            <a:srgbClr val="A3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331720" y="1965960"/>
            <a:ext cx="1554480" cy="11430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31720" y="2057400"/>
            <a:ext cx="1554480" cy="457200"/>
          </a:xfrm>
          <a:prstGeom prst="rect">
            <a:avLst/>
          </a:prstGeom>
          <a:noFill/>
        </p:spPr>
        <p:txBody>
          <a:bodyPr wrap="square" lIns="0" tIns="0" rIns="0" bIns="0" anchor="t">
            <a:spAutoFit/>
          </a:bodyPr>
          <a:lstStyle/>
          <a:p>
            <a:pPr algn="ctr">
              <a:spcAft>
                <a:spcPts val="0"/>
              </a:spcAft>
            </a:pPr>
            <a:r>
              <a:rPr sz="1600" b="1" i="0">
                <a:solidFill>
                  <a:srgbClr val="FFFFFF"/>
                </a:solidFill>
                <a:latin typeface="Calibri"/>
              </a:rPr>
              <a:t>Limpiador</a:t>
            </a:r>
          </a:p>
        </p:txBody>
      </p:sp>
      <p:sp>
        <p:nvSpPr>
          <p:cNvPr id="13" name="TextBox 12"/>
          <p:cNvSpPr txBox="1"/>
          <p:nvPr/>
        </p:nvSpPr>
        <p:spPr>
          <a:xfrm>
            <a:off x="2423160" y="2487168"/>
            <a:ext cx="1371600" cy="548640"/>
          </a:xfrm>
          <a:prstGeom prst="rect">
            <a:avLst/>
          </a:prstGeom>
          <a:noFill/>
        </p:spPr>
        <p:txBody>
          <a:bodyPr wrap="square" lIns="0" tIns="0" rIns="0" bIns="0" anchor="t">
            <a:spAutoFit/>
          </a:bodyPr>
          <a:lstStyle/>
          <a:p>
            <a:pPr algn="ctr">
              <a:spcAft>
                <a:spcPts val="0"/>
              </a:spcAft>
            </a:pPr>
            <a:r>
              <a:rPr sz="1200" b="0" i="0">
                <a:solidFill>
                  <a:srgbClr val="C9D7E8"/>
                </a:solidFill>
                <a:latin typeface="Calibri"/>
              </a:rPr>
              <a:t>los prepara</a:t>
            </a:r>
          </a:p>
        </p:txBody>
      </p:sp>
      <p:sp>
        <p:nvSpPr>
          <p:cNvPr id="14" name="Right Arrow 13"/>
          <p:cNvSpPr/>
          <p:nvPr/>
        </p:nvSpPr>
        <p:spPr>
          <a:xfrm>
            <a:off x="3904487" y="2395728"/>
            <a:ext cx="192024" cy="274320"/>
          </a:xfrm>
          <a:prstGeom prst="rightArrow">
            <a:avLst/>
          </a:prstGeom>
          <a:solidFill>
            <a:srgbClr val="A3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114800" y="1965960"/>
            <a:ext cx="1554480" cy="1143000"/>
          </a:xfrm>
          <a:prstGeom prst="roundRect">
            <a:avLst>
              <a:gd name="adj" fmla="val 12000"/>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800" y="2057400"/>
            <a:ext cx="1554480" cy="457200"/>
          </a:xfrm>
          <a:prstGeom prst="rect">
            <a:avLst/>
          </a:prstGeom>
          <a:noFill/>
        </p:spPr>
        <p:txBody>
          <a:bodyPr wrap="square" lIns="0" tIns="0" rIns="0" bIns="0" anchor="t">
            <a:spAutoFit/>
          </a:bodyPr>
          <a:lstStyle/>
          <a:p>
            <a:pPr algn="ctr">
              <a:spcAft>
                <a:spcPts val="0"/>
              </a:spcAft>
            </a:pPr>
            <a:r>
              <a:rPr sz="1600" b="1" i="0">
                <a:solidFill>
                  <a:srgbClr val="FFFFFF"/>
                </a:solidFill>
                <a:latin typeface="Calibri"/>
              </a:rPr>
              <a:t>Validador</a:t>
            </a:r>
          </a:p>
        </p:txBody>
      </p:sp>
      <p:sp>
        <p:nvSpPr>
          <p:cNvPr id="17" name="TextBox 16"/>
          <p:cNvSpPr txBox="1"/>
          <p:nvPr/>
        </p:nvSpPr>
        <p:spPr>
          <a:xfrm>
            <a:off x="4206240" y="2487168"/>
            <a:ext cx="1371600" cy="548640"/>
          </a:xfrm>
          <a:prstGeom prst="rect">
            <a:avLst/>
          </a:prstGeom>
          <a:noFill/>
        </p:spPr>
        <p:txBody>
          <a:bodyPr wrap="square" lIns="0" tIns="0" rIns="0" bIns="0" anchor="t">
            <a:spAutoFit/>
          </a:bodyPr>
          <a:lstStyle/>
          <a:p>
            <a:pPr algn="ctr">
              <a:spcAft>
                <a:spcPts val="0"/>
              </a:spcAft>
            </a:pPr>
            <a:r>
              <a:rPr sz="1200" b="0" i="0">
                <a:solidFill>
                  <a:srgbClr val="C9D7E8"/>
                </a:solidFill>
                <a:latin typeface="Calibri"/>
              </a:rPr>
              <a:t>comprueba las reglas</a:t>
            </a:r>
          </a:p>
        </p:txBody>
      </p:sp>
      <p:sp>
        <p:nvSpPr>
          <p:cNvPr id="18" name="Right Arrow 17"/>
          <p:cNvSpPr/>
          <p:nvPr/>
        </p:nvSpPr>
        <p:spPr>
          <a:xfrm>
            <a:off x="5687568" y="2395728"/>
            <a:ext cx="192024" cy="274320"/>
          </a:xfrm>
          <a:prstGeom prst="rightArrow">
            <a:avLst/>
          </a:prstGeom>
          <a:solidFill>
            <a:srgbClr val="A3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897879" y="1965960"/>
            <a:ext cx="1554480" cy="11430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97879" y="2057400"/>
            <a:ext cx="1554480" cy="457200"/>
          </a:xfrm>
          <a:prstGeom prst="rect">
            <a:avLst/>
          </a:prstGeom>
          <a:noFill/>
        </p:spPr>
        <p:txBody>
          <a:bodyPr wrap="square" lIns="0" tIns="0" rIns="0" bIns="0" anchor="t">
            <a:spAutoFit/>
          </a:bodyPr>
          <a:lstStyle/>
          <a:p>
            <a:pPr algn="ctr">
              <a:spcAft>
                <a:spcPts val="0"/>
              </a:spcAft>
            </a:pPr>
            <a:r>
              <a:rPr sz="1600" b="1" i="0">
                <a:solidFill>
                  <a:srgbClr val="FFFFFF"/>
                </a:solidFill>
                <a:latin typeface="Calibri"/>
              </a:rPr>
              <a:t>Resultados</a:t>
            </a:r>
          </a:p>
        </p:txBody>
      </p:sp>
      <p:sp>
        <p:nvSpPr>
          <p:cNvPr id="21" name="TextBox 20"/>
          <p:cNvSpPr txBox="1"/>
          <p:nvPr/>
        </p:nvSpPr>
        <p:spPr>
          <a:xfrm>
            <a:off x="5989319" y="2487168"/>
            <a:ext cx="1371600" cy="548640"/>
          </a:xfrm>
          <a:prstGeom prst="rect">
            <a:avLst/>
          </a:prstGeom>
          <a:noFill/>
        </p:spPr>
        <p:txBody>
          <a:bodyPr wrap="square" lIns="0" tIns="0" rIns="0" bIns="0" anchor="t">
            <a:spAutoFit/>
          </a:bodyPr>
          <a:lstStyle/>
          <a:p>
            <a:pPr algn="ctr">
              <a:spcAft>
                <a:spcPts val="0"/>
              </a:spcAft>
            </a:pPr>
            <a:r>
              <a:rPr sz="1200" b="0" i="0">
                <a:solidFill>
                  <a:srgbClr val="C9D7E8"/>
                </a:solidFill>
                <a:latin typeface="Calibri"/>
              </a:rPr>
              <a:t>análisis y gráficos</a:t>
            </a:r>
          </a:p>
        </p:txBody>
      </p:sp>
      <p:sp>
        <p:nvSpPr>
          <p:cNvPr id="22" name="TextBox 21"/>
          <p:cNvSpPr txBox="1"/>
          <p:nvPr/>
        </p:nvSpPr>
        <p:spPr>
          <a:xfrm>
            <a:off x="548640" y="3474720"/>
            <a:ext cx="6858000" cy="365760"/>
          </a:xfrm>
          <a:prstGeom prst="rect">
            <a:avLst/>
          </a:prstGeom>
          <a:noFill/>
        </p:spPr>
        <p:txBody>
          <a:bodyPr wrap="square" lIns="0" tIns="0" rIns="0" bIns="0" anchor="t">
            <a:spAutoFit/>
          </a:bodyPr>
          <a:lstStyle/>
          <a:p>
            <a:pPr algn="l">
              <a:spcAft>
                <a:spcPts val="0"/>
              </a:spcAft>
            </a:pPr>
            <a:r>
              <a:rPr sz="1800" b="1" i="0">
                <a:solidFill>
                  <a:srgbClr val="1B3A5C"/>
                </a:solidFill>
                <a:latin typeface="Cambria"/>
              </a:rPr>
              <a:t>Reglas de validación</a:t>
            </a:r>
          </a:p>
        </p:txBody>
      </p:sp>
      <p:sp>
        <p:nvSpPr>
          <p:cNvPr id="23" name="Oval 22"/>
          <p:cNvSpPr/>
          <p:nvPr/>
        </p:nvSpPr>
        <p:spPr>
          <a:xfrm>
            <a:off x="548640" y="3977639"/>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a:t>
            </a:r>
          </a:p>
        </p:txBody>
      </p:sp>
      <p:sp>
        <p:nvSpPr>
          <p:cNvPr id="24" name="TextBox 23"/>
          <p:cNvSpPr txBox="1"/>
          <p:nvPr/>
        </p:nvSpPr>
        <p:spPr>
          <a:xfrm>
            <a:off x="1051560" y="3977639"/>
            <a:ext cx="5943600" cy="347472"/>
          </a:xfrm>
          <a:prstGeom prst="rect">
            <a:avLst/>
          </a:prstGeom>
          <a:noFill/>
        </p:spPr>
        <p:txBody>
          <a:bodyPr wrap="square" lIns="0" tIns="0" rIns="0" bIns="0" anchor="ctr">
            <a:spAutoFit/>
          </a:bodyPr>
          <a:lstStyle/>
          <a:p>
            <a:pPr algn="l">
              <a:spcAft>
                <a:spcPts val="0"/>
              </a:spcAft>
            </a:pPr>
            <a:r>
              <a:rPr sz="1600" b="0" i="0">
                <a:solidFill>
                  <a:srgbClr val="1A2433"/>
                </a:solidFill>
                <a:latin typeface="Calibri"/>
              </a:rPr>
              <a:t>Datos faltantes</a:t>
            </a:r>
          </a:p>
        </p:txBody>
      </p:sp>
      <p:sp>
        <p:nvSpPr>
          <p:cNvPr id="25" name="Oval 24"/>
          <p:cNvSpPr/>
          <p:nvPr/>
        </p:nvSpPr>
        <p:spPr>
          <a:xfrm>
            <a:off x="548640" y="4480559"/>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a:t>
            </a:r>
          </a:p>
        </p:txBody>
      </p:sp>
      <p:sp>
        <p:nvSpPr>
          <p:cNvPr id="26" name="TextBox 25"/>
          <p:cNvSpPr txBox="1"/>
          <p:nvPr/>
        </p:nvSpPr>
        <p:spPr>
          <a:xfrm>
            <a:off x="1051560" y="4480559"/>
            <a:ext cx="5943600" cy="347472"/>
          </a:xfrm>
          <a:prstGeom prst="rect">
            <a:avLst/>
          </a:prstGeom>
          <a:noFill/>
        </p:spPr>
        <p:txBody>
          <a:bodyPr wrap="square" lIns="0" tIns="0" rIns="0" bIns="0" anchor="ctr">
            <a:spAutoFit/>
          </a:bodyPr>
          <a:lstStyle/>
          <a:p>
            <a:pPr algn="l">
              <a:spcAft>
                <a:spcPts val="0"/>
              </a:spcAft>
            </a:pPr>
            <a:r>
              <a:rPr sz="1600" b="0" i="0">
                <a:solidFill>
                  <a:srgbClr val="1A2433"/>
                </a:solidFill>
                <a:latin typeface="Calibri"/>
              </a:rPr>
              <a:t>Valores fuera de rango</a:t>
            </a:r>
          </a:p>
        </p:txBody>
      </p:sp>
      <p:sp>
        <p:nvSpPr>
          <p:cNvPr id="27" name="Oval 26"/>
          <p:cNvSpPr/>
          <p:nvPr/>
        </p:nvSpPr>
        <p:spPr>
          <a:xfrm>
            <a:off x="548640" y="4983479"/>
            <a:ext cx="347472" cy="347472"/>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a:t>
            </a:r>
          </a:p>
        </p:txBody>
      </p:sp>
      <p:sp>
        <p:nvSpPr>
          <p:cNvPr id="28" name="TextBox 27"/>
          <p:cNvSpPr txBox="1"/>
          <p:nvPr/>
        </p:nvSpPr>
        <p:spPr>
          <a:xfrm>
            <a:off x="1051560" y="4983479"/>
            <a:ext cx="5943600" cy="347472"/>
          </a:xfrm>
          <a:prstGeom prst="rect">
            <a:avLst/>
          </a:prstGeom>
          <a:noFill/>
        </p:spPr>
        <p:txBody>
          <a:bodyPr wrap="square" lIns="0" tIns="0" rIns="0" bIns="0" anchor="ctr">
            <a:spAutoFit/>
          </a:bodyPr>
          <a:lstStyle/>
          <a:p>
            <a:pPr algn="l">
              <a:spcAft>
                <a:spcPts val="0"/>
              </a:spcAft>
            </a:pPr>
            <a:r>
              <a:rPr sz="1600" b="0" i="0">
                <a:solidFill>
                  <a:srgbClr val="1A2433"/>
                </a:solidFill>
                <a:latin typeface="Calibri"/>
              </a:rPr>
              <a:t>Categorías no reconocidas</a:t>
            </a:r>
          </a:p>
        </p:txBody>
      </p:sp>
      <p:sp>
        <p:nvSpPr>
          <p:cNvPr id="29" name="Rounded Rectangle 28"/>
          <p:cNvSpPr/>
          <p:nvPr/>
        </p:nvSpPr>
        <p:spPr>
          <a:xfrm>
            <a:off x="548640" y="5577840"/>
            <a:ext cx="6858000" cy="640080"/>
          </a:xfrm>
          <a:prstGeom prst="roundRect">
            <a:avLst>
              <a:gd name="adj" fmla="val 15000"/>
            </a:avLst>
          </a:prstGeom>
          <a:solidFill>
            <a:srgbClr val="F6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5577840"/>
            <a:ext cx="6492240" cy="640080"/>
          </a:xfrm>
          <a:prstGeom prst="rect">
            <a:avLst/>
          </a:prstGeom>
          <a:noFill/>
        </p:spPr>
        <p:txBody>
          <a:bodyPr wrap="square" lIns="0" tIns="0" rIns="0" bIns="0" anchor="ctr">
            <a:spAutoFit/>
          </a:bodyPr>
          <a:lstStyle/>
          <a:p>
            <a:pPr algn="l">
              <a:spcAft>
                <a:spcPts val="0"/>
              </a:spcAft>
            </a:pPr>
            <a:r>
              <a:rPr sz="1400" b="1" i="0">
                <a:solidFill>
                  <a:srgbClr val="B23A3A"/>
                </a:solidFill>
                <a:latin typeface="Calibri"/>
              </a:rPr>
              <a:t>Caso de error cubierto: con una lista vacía de reglas, el validador avisa que no hay reglas configuradas.</a:t>
            </a:r>
          </a:p>
        </p:txBody>
      </p:sp>
      <p:sp>
        <p:nvSpPr>
          <p:cNvPr id="31" name="Rounded Rectangle 30"/>
          <p:cNvSpPr/>
          <p:nvPr/>
        </p:nvSpPr>
        <p:spPr>
          <a:xfrm>
            <a:off x="7863840" y="1463040"/>
            <a:ext cx="3749039" cy="47548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83879" y="1691640"/>
            <a:ext cx="3200400" cy="365760"/>
          </a:xfrm>
          <a:prstGeom prst="rect">
            <a:avLst/>
          </a:prstGeom>
          <a:noFill/>
        </p:spPr>
        <p:txBody>
          <a:bodyPr wrap="square" lIns="0" tIns="0" rIns="0" bIns="0" anchor="t">
            <a:spAutoFit/>
          </a:bodyPr>
          <a:lstStyle/>
          <a:p>
            <a:pPr algn="l">
              <a:spcAft>
                <a:spcPts val="0"/>
              </a:spcAft>
            </a:pPr>
            <a:r>
              <a:rPr sz="1800" b="1" i="0">
                <a:solidFill>
                  <a:srgbClr val="1B3A5C"/>
                </a:solidFill>
                <a:latin typeface="Cambria"/>
              </a:rPr>
              <a:t>Principios de POO</a:t>
            </a:r>
          </a:p>
        </p:txBody>
      </p:sp>
      <p:sp>
        <p:nvSpPr>
          <p:cNvPr id="33" name="Oval 32"/>
          <p:cNvSpPr/>
          <p:nvPr/>
        </p:nvSpPr>
        <p:spPr>
          <a:xfrm>
            <a:off x="8183879" y="2286000"/>
            <a:ext cx="548640" cy="5486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mbria"/>
              </a:rPr>
              <a:t>E</a:t>
            </a:r>
          </a:p>
        </p:txBody>
      </p:sp>
      <p:sp>
        <p:nvSpPr>
          <p:cNvPr id="34" name="TextBox 33"/>
          <p:cNvSpPr txBox="1"/>
          <p:nvPr/>
        </p:nvSpPr>
        <p:spPr>
          <a:xfrm>
            <a:off x="8915400" y="2240280"/>
            <a:ext cx="2560320" cy="365760"/>
          </a:xfrm>
          <a:prstGeom prst="rect">
            <a:avLst/>
          </a:prstGeom>
          <a:noFill/>
        </p:spPr>
        <p:txBody>
          <a:bodyPr wrap="square" lIns="0" tIns="0" rIns="0" bIns="0" anchor="t">
            <a:spAutoFit/>
          </a:bodyPr>
          <a:lstStyle/>
          <a:p>
            <a:pPr algn="l">
              <a:spcAft>
                <a:spcPts val="0"/>
              </a:spcAft>
            </a:pPr>
            <a:r>
              <a:rPr sz="1600" b="1" i="0">
                <a:solidFill>
                  <a:srgbClr val="1B3A5C"/>
                </a:solidFill>
                <a:latin typeface="Calibri"/>
              </a:rPr>
              <a:t>Encapsulamiento</a:t>
            </a:r>
          </a:p>
        </p:txBody>
      </p:sp>
      <p:sp>
        <p:nvSpPr>
          <p:cNvPr id="35" name="TextBox 34"/>
          <p:cNvSpPr txBox="1"/>
          <p:nvPr/>
        </p:nvSpPr>
        <p:spPr>
          <a:xfrm>
            <a:off x="8915400" y="2606040"/>
            <a:ext cx="2560320" cy="822960"/>
          </a:xfrm>
          <a:prstGeom prst="rect">
            <a:avLst/>
          </a:prstGeom>
          <a:noFill/>
        </p:spPr>
        <p:txBody>
          <a:bodyPr wrap="square" lIns="0" tIns="0" rIns="0" bIns="0" anchor="t">
            <a:spAutoFit/>
          </a:bodyPr>
          <a:lstStyle/>
          <a:p>
            <a:pPr algn="l">
              <a:spcAft>
                <a:spcPts val="0"/>
              </a:spcAft>
            </a:pPr>
            <a:r>
              <a:rPr sz="1400" b="0" i="0">
                <a:solidFill>
                  <a:srgbClr val="1A2433"/>
                </a:solidFill>
                <a:latin typeface="Calibri"/>
              </a:rPr>
              <a:t>Protege el estado interno de cada clase.</a:t>
            </a:r>
          </a:p>
        </p:txBody>
      </p:sp>
      <p:sp>
        <p:nvSpPr>
          <p:cNvPr id="36" name="Oval 35"/>
          <p:cNvSpPr/>
          <p:nvPr/>
        </p:nvSpPr>
        <p:spPr>
          <a:xfrm>
            <a:off x="8183879" y="3566160"/>
            <a:ext cx="548640" cy="5486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mbria"/>
              </a:rPr>
              <a:t>H</a:t>
            </a:r>
          </a:p>
        </p:txBody>
      </p:sp>
      <p:sp>
        <p:nvSpPr>
          <p:cNvPr id="37" name="TextBox 36"/>
          <p:cNvSpPr txBox="1"/>
          <p:nvPr/>
        </p:nvSpPr>
        <p:spPr>
          <a:xfrm>
            <a:off x="8915400" y="3520440"/>
            <a:ext cx="2560320" cy="365760"/>
          </a:xfrm>
          <a:prstGeom prst="rect">
            <a:avLst/>
          </a:prstGeom>
          <a:noFill/>
        </p:spPr>
        <p:txBody>
          <a:bodyPr wrap="square" lIns="0" tIns="0" rIns="0" bIns="0" anchor="t">
            <a:spAutoFit/>
          </a:bodyPr>
          <a:lstStyle/>
          <a:p>
            <a:pPr algn="l">
              <a:spcAft>
                <a:spcPts val="0"/>
              </a:spcAft>
            </a:pPr>
            <a:r>
              <a:rPr sz="1600" b="1" i="0">
                <a:solidFill>
                  <a:srgbClr val="1B3A5C"/>
                </a:solidFill>
                <a:latin typeface="Calibri"/>
              </a:rPr>
              <a:t>Herencia</a:t>
            </a:r>
          </a:p>
        </p:txBody>
      </p:sp>
      <p:sp>
        <p:nvSpPr>
          <p:cNvPr id="38" name="TextBox 37"/>
          <p:cNvSpPr txBox="1"/>
          <p:nvPr/>
        </p:nvSpPr>
        <p:spPr>
          <a:xfrm>
            <a:off x="8915400" y="3886200"/>
            <a:ext cx="2560320" cy="822960"/>
          </a:xfrm>
          <a:prstGeom prst="rect">
            <a:avLst/>
          </a:prstGeom>
          <a:noFill/>
        </p:spPr>
        <p:txBody>
          <a:bodyPr wrap="square" lIns="0" tIns="0" rIns="0" bIns="0" anchor="t">
            <a:spAutoFit/>
          </a:bodyPr>
          <a:lstStyle/>
          <a:p>
            <a:pPr algn="l">
              <a:spcAft>
                <a:spcPts val="0"/>
              </a:spcAft>
            </a:pPr>
            <a:r>
              <a:rPr sz="1400" b="0" i="0">
                <a:solidFill>
                  <a:srgbClr val="1A2433"/>
                </a:solidFill>
                <a:latin typeface="Calibri"/>
              </a:rPr>
              <a:t>Comparte comportamientos comunes entre reglas.</a:t>
            </a:r>
          </a:p>
        </p:txBody>
      </p:sp>
      <p:sp>
        <p:nvSpPr>
          <p:cNvPr id="39" name="Oval 38"/>
          <p:cNvSpPr/>
          <p:nvPr/>
        </p:nvSpPr>
        <p:spPr>
          <a:xfrm>
            <a:off x="8183879" y="4846320"/>
            <a:ext cx="548640" cy="54864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mbria"/>
              </a:rPr>
              <a:t>P</a:t>
            </a:r>
          </a:p>
        </p:txBody>
      </p:sp>
      <p:sp>
        <p:nvSpPr>
          <p:cNvPr id="40" name="TextBox 39"/>
          <p:cNvSpPr txBox="1"/>
          <p:nvPr/>
        </p:nvSpPr>
        <p:spPr>
          <a:xfrm>
            <a:off x="8915400" y="4800600"/>
            <a:ext cx="2560320" cy="365760"/>
          </a:xfrm>
          <a:prstGeom prst="rect">
            <a:avLst/>
          </a:prstGeom>
          <a:noFill/>
        </p:spPr>
        <p:txBody>
          <a:bodyPr wrap="square" lIns="0" tIns="0" rIns="0" bIns="0" anchor="t">
            <a:spAutoFit/>
          </a:bodyPr>
          <a:lstStyle/>
          <a:p>
            <a:pPr algn="l">
              <a:spcAft>
                <a:spcPts val="0"/>
              </a:spcAft>
            </a:pPr>
            <a:r>
              <a:rPr sz="1600" b="1" i="0">
                <a:solidFill>
                  <a:srgbClr val="1B3A5C"/>
                </a:solidFill>
                <a:latin typeface="Calibri"/>
              </a:rPr>
              <a:t>Polimorfismo</a:t>
            </a:r>
          </a:p>
        </p:txBody>
      </p:sp>
      <p:sp>
        <p:nvSpPr>
          <p:cNvPr id="41" name="TextBox 40"/>
          <p:cNvSpPr txBox="1"/>
          <p:nvPr/>
        </p:nvSpPr>
        <p:spPr>
          <a:xfrm>
            <a:off x="8915400" y="5166359"/>
            <a:ext cx="2560320" cy="822960"/>
          </a:xfrm>
          <a:prstGeom prst="rect">
            <a:avLst/>
          </a:prstGeom>
          <a:noFill/>
        </p:spPr>
        <p:txBody>
          <a:bodyPr wrap="square" lIns="0" tIns="0" rIns="0" bIns="0" anchor="t">
            <a:spAutoFit/>
          </a:bodyPr>
          <a:lstStyle/>
          <a:p>
            <a:pPr algn="l">
              <a:spcAft>
                <a:spcPts val="0"/>
              </a:spcAft>
            </a:pPr>
            <a:r>
              <a:rPr sz="1400" b="0" i="0">
                <a:solidFill>
                  <a:srgbClr val="1A2433"/>
                </a:solidFill>
                <a:latin typeface="Calibri"/>
              </a:rPr>
              <a:t>Ejecuta distintas validaciones con una misma interfaz.</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8778240" cy="731520"/>
          </a:xfrm>
          <a:prstGeom prst="rect">
            <a:avLst/>
          </a:prstGeom>
          <a:noFill/>
        </p:spPr>
        <p:txBody>
          <a:bodyPr wrap="square" lIns="0" tIns="0" rIns="0" bIns="0" anchor="ctr">
            <a:spAutoFit/>
          </a:bodyPr>
          <a:lstStyle/>
          <a:p>
            <a:pPr algn="l">
              <a:spcAft>
                <a:spcPts val="0"/>
              </a:spcAft>
            </a:pPr>
            <a:r>
              <a:rPr sz="3400" b="1" i="0">
                <a:solidFill>
                  <a:srgbClr val="1B3A5C"/>
                </a:solidFill>
                <a:latin typeface="Cambria"/>
              </a:rPr>
              <a:t>Eficiencia y pruebas</a:t>
            </a:r>
          </a:p>
        </p:txBody>
      </p:sp>
      <p:sp>
        <p:nvSpPr>
          <p:cNvPr id="4" name="TextBox 3"/>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000" b="0" i="0">
                <a:solidFill>
                  <a:srgbClr val="5B677A"/>
                </a:solidFill>
                <a:latin typeface="Calibri"/>
              </a:rPr>
              <a:t>Grupo 5 · Programación para la Ciencia de Datos</a:t>
            </a:r>
          </a:p>
        </p:txBody>
      </p:sp>
      <p:sp>
        <p:nvSpPr>
          <p:cNvPr id="5" name="TextBox 4"/>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B677A"/>
                </a:solidFill>
                <a:latin typeface="Calibri"/>
              </a:rPr>
              <a:t>5 / 10</a:t>
            </a:r>
          </a:p>
        </p:txBody>
      </p:sp>
      <p:sp>
        <p:nvSpPr>
          <p:cNvPr id="6" name="TextBox 5"/>
          <p:cNvSpPr txBox="1"/>
          <p:nvPr/>
        </p:nvSpPr>
        <p:spPr>
          <a:xfrm>
            <a:off x="548640" y="1371600"/>
            <a:ext cx="10972800" cy="411480"/>
          </a:xfrm>
          <a:prstGeom prst="rect">
            <a:avLst/>
          </a:prstGeom>
          <a:noFill/>
        </p:spPr>
        <p:txBody>
          <a:bodyPr wrap="square" lIns="0" tIns="0" rIns="0" bIns="0" anchor="t">
            <a:spAutoFit/>
          </a:bodyPr>
          <a:lstStyle/>
          <a:p>
            <a:pPr algn="l">
              <a:spcAft>
                <a:spcPts val="0"/>
              </a:spcAft>
            </a:pPr>
            <a:r>
              <a:rPr sz="1600" b="0" i="0">
                <a:solidFill>
                  <a:srgbClr val="5B677A"/>
                </a:solidFill>
                <a:latin typeface="Calibri"/>
              </a:rPr>
              <a:t>Lectura selectiva de columnas (usecols) frente a la lectura completa del CSV, medida con timeit</a:t>
            </a:r>
          </a:p>
        </p:txBody>
      </p:sp>
      <p:sp>
        <p:nvSpPr>
          <p:cNvPr id="7" name="Rounded Rectangle 6"/>
          <p:cNvSpPr/>
          <p:nvPr/>
        </p:nvSpPr>
        <p:spPr>
          <a:xfrm>
            <a:off x="548640" y="2057400"/>
            <a:ext cx="3474720" cy="2697480"/>
          </a:xfrm>
          <a:prstGeom prst="roundRect">
            <a:avLst>
              <a:gd name="adj" fmla="val 8000"/>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286000"/>
            <a:ext cx="2926080" cy="1188720"/>
          </a:xfrm>
          <a:prstGeom prst="rect">
            <a:avLst/>
          </a:prstGeom>
          <a:noFill/>
        </p:spPr>
        <p:txBody>
          <a:bodyPr wrap="square" lIns="0" tIns="0" rIns="0" bIns="0" anchor="t">
            <a:spAutoFit/>
          </a:bodyPr>
          <a:lstStyle/>
          <a:p>
            <a:pPr algn="l">
              <a:spcAft>
                <a:spcPts val="0"/>
              </a:spcAft>
            </a:pPr>
            <a:r>
              <a:rPr sz="6600" b="1" i="0">
                <a:solidFill>
                  <a:srgbClr val="FFFFFF"/>
                </a:solidFill>
                <a:latin typeface="Cambria"/>
              </a:rPr>
              <a:t>−58 %</a:t>
            </a:r>
          </a:p>
        </p:txBody>
      </p:sp>
      <p:sp>
        <p:nvSpPr>
          <p:cNvPr id="9" name="TextBox 8"/>
          <p:cNvSpPr txBox="1"/>
          <p:nvPr/>
        </p:nvSpPr>
        <p:spPr>
          <a:xfrm>
            <a:off x="868680" y="3611880"/>
            <a:ext cx="2926080" cy="411480"/>
          </a:xfrm>
          <a:prstGeom prst="rect">
            <a:avLst/>
          </a:prstGeom>
          <a:noFill/>
        </p:spPr>
        <p:txBody>
          <a:bodyPr wrap="square" lIns="0" tIns="0" rIns="0" bIns="0" anchor="t">
            <a:spAutoFit/>
          </a:bodyPr>
          <a:lstStyle/>
          <a:p>
            <a:pPr algn="l">
              <a:spcAft>
                <a:spcPts val="0"/>
              </a:spcAft>
            </a:pPr>
            <a:r>
              <a:rPr sz="1800" b="1" i="0">
                <a:solidFill>
                  <a:srgbClr val="FFFFFF"/>
                </a:solidFill>
                <a:latin typeface="Calibri"/>
              </a:rPr>
              <a:t>Tiempo del flujo completo</a:t>
            </a:r>
          </a:p>
        </p:txBody>
      </p:sp>
      <p:sp>
        <p:nvSpPr>
          <p:cNvPr id="10" name="TextBox 9"/>
          <p:cNvSpPr txBox="1"/>
          <p:nvPr/>
        </p:nvSpPr>
        <p:spPr>
          <a:xfrm>
            <a:off x="868680" y="4114800"/>
            <a:ext cx="2926080" cy="822960"/>
          </a:xfrm>
          <a:prstGeom prst="rect">
            <a:avLst/>
          </a:prstGeom>
          <a:noFill/>
        </p:spPr>
        <p:txBody>
          <a:bodyPr wrap="square" lIns="0" tIns="0" rIns="0" bIns="0" anchor="t">
            <a:spAutoFit/>
          </a:bodyPr>
          <a:lstStyle/>
          <a:p>
            <a:pPr algn="l">
              <a:spcAft>
                <a:spcPts val="0"/>
              </a:spcAft>
            </a:pPr>
            <a:r>
              <a:rPr sz="1600" b="0" i="0">
                <a:solidFill>
                  <a:srgbClr val="C9D7E8"/>
                </a:solidFill>
                <a:latin typeface="Calibri"/>
              </a:rPr>
              <a:t>1.199 ms  →  506 ms</a:t>
            </a:r>
          </a:p>
        </p:txBody>
      </p:sp>
      <p:sp>
        <p:nvSpPr>
          <p:cNvPr id="11" name="Rounded Rectangle 10"/>
          <p:cNvSpPr/>
          <p:nvPr/>
        </p:nvSpPr>
        <p:spPr>
          <a:xfrm>
            <a:off x="4297679" y="2057400"/>
            <a:ext cx="3474720" cy="2697480"/>
          </a:xfrm>
          <a:prstGeom prst="roundRect">
            <a:avLst>
              <a:gd name="adj" fmla="val 8000"/>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19" y="2286000"/>
            <a:ext cx="2926080" cy="1188720"/>
          </a:xfrm>
          <a:prstGeom prst="rect">
            <a:avLst/>
          </a:prstGeom>
          <a:noFill/>
        </p:spPr>
        <p:txBody>
          <a:bodyPr wrap="square" lIns="0" tIns="0" rIns="0" bIns="0" anchor="t">
            <a:spAutoFit/>
          </a:bodyPr>
          <a:lstStyle/>
          <a:p>
            <a:pPr algn="l">
              <a:spcAft>
                <a:spcPts val="0"/>
              </a:spcAft>
            </a:pPr>
            <a:r>
              <a:rPr sz="6600" b="1" i="0">
                <a:solidFill>
                  <a:srgbClr val="FFFFFF"/>
                </a:solidFill>
                <a:latin typeface="Cambria"/>
              </a:rPr>
              <a:t>−95 %</a:t>
            </a:r>
          </a:p>
        </p:txBody>
      </p:sp>
      <p:sp>
        <p:nvSpPr>
          <p:cNvPr id="13" name="TextBox 12"/>
          <p:cNvSpPr txBox="1"/>
          <p:nvPr/>
        </p:nvSpPr>
        <p:spPr>
          <a:xfrm>
            <a:off x="4617719" y="3611880"/>
            <a:ext cx="2926080" cy="411480"/>
          </a:xfrm>
          <a:prstGeom prst="rect">
            <a:avLst/>
          </a:prstGeom>
          <a:noFill/>
        </p:spPr>
        <p:txBody>
          <a:bodyPr wrap="square" lIns="0" tIns="0" rIns="0" bIns="0" anchor="t">
            <a:spAutoFit/>
          </a:bodyPr>
          <a:lstStyle/>
          <a:p>
            <a:pPr algn="l">
              <a:spcAft>
                <a:spcPts val="0"/>
              </a:spcAft>
            </a:pPr>
            <a:r>
              <a:rPr sz="1800" b="1" i="0">
                <a:solidFill>
                  <a:srgbClr val="FFFFFF"/>
                </a:solidFill>
                <a:latin typeface="Calibri"/>
              </a:rPr>
              <a:t>Memoria del DataFrame</a:t>
            </a:r>
          </a:p>
        </p:txBody>
      </p:sp>
      <p:sp>
        <p:nvSpPr>
          <p:cNvPr id="14" name="TextBox 13"/>
          <p:cNvSpPr txBox="1"/>
          <p:nvPr/>
        </p:nvSpPr>
        <p:spPr>
          <a:xfrm>
            <a:off x="4617719" y="4114800"/>
            <a:ext cx="2926080" cy="822960"/>
          </a:xfrm>
          <a:prstGeom prst="rect">
            <a:avLst/>
          </a:prstGeom>
          <a:noFill/>
        </p:spPr>
        <p:txBody>
          <a:bodyPr wrap="square" lIns="0" tIns="0" rIns="0" bIns="0" anchor="t">
            <a:spAutoFit/>
          </a:bodyPr>
          <a:lstStyle/>
          <a:p>
            <a:pPr algn="l">
              <a:spcAft>
                <a:spcPts val="0"/>
              </a:spcAft>
            </a:pPr>
            <a:r>
              <a:rPr sz="1600" b="0" i="0">
                <a:solidFill>
                  <a:srgbClr val="C9D7E8"/>
                </a:solidFill>
                <a:latin typeface="Calibri"/>
              </a:rPr>
              <a:t>195,7 MiB  →  8,9 MiB</a:t>
            </a:r>
          </a:p>
        </p:txBody>
      </p:sp>
      <p:sp>
        <p:nvSpPr>
          <p:cNvPr id="15" name="Rounded Rectangle 14"/>
          <p:cNvSpPr/>
          <p:nvPr/>
        </p:nvSpPr>
        <p:spPr>
          <a:xfrm>
            <a:off x="8046719" y="2057400"/>
            <a:ext cx="3474720" cy="26974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59" y="2286000"/>
            <a:ext cx="2926080" cy="1188720"/>
          </a:xfrm>
          <a:prstGeom prst="rect">
            <a:avLst/>
          </a:prstGeom>
          <a:noFill/>
        </p:spPr>
        <p:txBody>
          <a:bodyPr wrap="square" lIns="0" tIns="0" rIns="0" bIns="0" anchor="t">
            <a:spAutoFit/>
          </a:bodyPr>
          <a:lstStyle/>
          <a:p>
            <a:pPr algn="l">
              <a:spcAft>
                <a:spcPts val="0"/>
              </a:spcAft>
            </a:pPr>
            <a:r>
              <a:rPr sz="6600" b="1" i="0">
                <a:solidFill>
                  <a:srgbClr val="1B3A5C"/>
                </a:solidFill>
                <a:latin typeface="Cambria"/>
              </a:rPr>
              <a:t>39</a:t>
            </a:r>
          </a:p>
        </p:txBody>
      </p:sp>
      <p:sp>
        <p:nvSpPr>
          <p:cNvPr id="17" name="TextBox 16"/>
          <p:cNvSpPr txBox="1"/>
          <p:nvPr/>
        </p:nvSpPr>
        <p:spPr>
          <a:xfrm>
            <a:off x="8366759" y="3611880"/>
            <a:ext cx="2926080" cy="411480"/>
          </a:xfrm>
          <a:prstGeom prst="rect">
            <a:avLst/>
          </a:prstGeom>
          <a:noFill/>
        </p:spPr>
        <p:txBody>
          <a:bodyPr wrap="square" lIns="0" tIns="0" rIns="0" bIns="0" anchor="t">
            <a:spAutoFit/>
          </a:bodyPr>
          <a:lstStyle/>
          <a:p>
            <a:pPr algn="l">
              <a:spcAft>
                <a:spcPts val="0"/>
              </a:spcAft>
            </a:pPr>
            <a:r>
              <a:rPr sz="1800" b="1" i="0">
                <a:solidFill>
                  <a:srgbClr val="1B3A5C"/>
                </a:solidFill>
                <a:latin typeface="Calibri"/>
              </a:rPr>
              <a:t>Pruebas aprobadas</a:t>
            </a:r>
          </a:p>
        </p:txBody>
      </p:sp>
      <p:sp>
        <p:nvSpPr>
          <p:cNvPr id="18" name="TextBox 17"/>
          <p:cNvSpPr txBox="1"/>
          <p:nvPr/>
        </p:nvSpPr>
        <p:spPr>
          <a:xfrm>
            <a:off x="8366759" y="4114800"/>
            <a:ext cx="2926080" cy="822960"/>
          </a:xfrm>
          <a:prstGeom prst="rect">
            <a:avLst/>
          </a:prstGeom>
          <a:noFill/>
        </p:spPr>
        <p:txBody>
          <a:bodyPr wrap="square" lIns="0" tIns="0" rIns="0" bIns="0" anchor="t">
            <a:spAutoFit/>
          </a:bodyPr>
          <a:lstStyle/>
          <a:p>
            <a:pPr algn="l">
              <a:spcAft>
                <a:spcPts val="0"/>
              </a:spcAft>
            </a:pPr>
            <a:r>
              <a:rPr sz="1600" b="0" i="0">
                <a:solidFill>
                  <a:srgbClr val="1A2433"/>
                </a:solidFill>
                <a:latin typeface="Calibri"/>
              </a:rPr>
              <a:t>14 de POO, 8 de algoritmos, 7 de lectura y 10 de visualizaciones</a:t>
            </a:r>
          </a:p>
        </p:txBody>
      </p:sp>
      <p:sp>
        <p:nvSpPr>
          <p:cNvPr id="19" name="TextBox 18"/>
          <p:cNvSpPr txBox="1"/>
          <p:nvPr/>
        </p:nvSpPr>
        <p:spPr>
          <a:xfrm>
            <a:off x="548640" y="5806440"/>
            <a:ext cx="11064240" cy="457200"/>
          </a:xfrm>
          <a:prstGeom prst="rect">
            <a:avLst/>
          </a:prstGeom>
          <a:noFill/>
        </p:spPr>
        <p:txBody>
          <a:bodyPr wrap="square" lIns="0" tIns="0" rIns="0" bIns="0" anchor="t">
            <a:spAutoFit/>
          </a:bodyPr>
          <a:lstStyle/>
          <a:p>
            <a:pPr algn="l">
              <a:spcAft>
                <a:spcPts val="0"/>
              </a:spcAft>
            </a:pPr>
            <a:r>
              <a:rPr sz="1600" b="0" i="1">
                <a:solidFill>
                  <a:srgbClr val="1A2433"/>
                </a:solidFill>
                <a:latin typeface="Calibri"/>
              </a:rPr>
              <a:t>Mismo análisis en menos de la mitad del tiempo. Entre los algoritmos iterativo, recursivo y agrupado, el agrupado fue el más rápido.</a:t>
            </a:r>
          </a:p>
        </p:txBody>
      </p:sp>
      <p:sp>
        <p:nvSpPr>
          <p:cNvPr id="20" name="Evidencia de ejecución"/>
          <p:cNvSpPr/>
          <p:nvPr/>
        </p:nvSpPr>
        <p:spPr>
          <a:xfrm>
            <a:off x="548640" y="4937760"/>
            <a:ext cx="10972800" cy="777240"/>
          </a:xfrm>
          <a:prstGeom prst="roundRect">
            <a:avLst>
              <a:gd name="adj" fmla="val 12000"/>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r>
              <a:rPr sz="1200">
                <a:solidFill>
                  <a:srgbClr val="E6EDF3"/>
                </a:solidFill>
                <a:latin typeface="Consolas"/>
              </a:rPr>
              <a:t>&gt; python -m unittest F3.test_algoritmos F3.test_nucleo_poo F3.test_lectura F4.test_visualizacion   →   Ran 39 tests · OK</a:t>
            </a:r>
          </a:p>
          <a:p>
            <a:pPr algn="l"/>
            <a:r>
              <a:rPr sz="1200">
                <a:solidFill>
                  <a:srgbClr val="E6EDF3"/>
                </a:solidFill>
                <a:latin typeface="Consolas"/>
              </a:rPr>
              <a:t>&gt; python F4\verificar_f4.py   →   10 celdas ejecutadas · 0 errores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8778240" cy="731520"/>
          </a:xfrm>
          <a:prstGeom prst="rect">
            <a:avLst/>
          </a:prstGeom>
          <a:noFill/>
        </p:spPr>
        <p:txBody>
          <a:bodyPr wrap="square" lIns="0" tIns="0" rIns="0" bIns="0" anchor="ctr">
            <a:spAutoFit/>
          </a:bodyPr>
          <a:lstStyle/>
          <a:p>
            <a:pPr algn="l">
              <a:spcAft>
                <a:spcPts val="0"/>
              </a:spcAft>
            </a:pPr>
            <a:r>
              <a:rPr sz="3400" b="1" i="0">
                <a:solidFill>
                  <a:srgbClr val="1B3A5C"/>
                </a:solidFill>
                <a:latin typeface="Cambria"/>
              </a:rPr>
              <a:t>Los proveedores grandes ganan más ofertas</a:t>
            </a:r>
          </a:p>
        </p:txBody>
      </p:sp>
      <p:sp>
        <p:nvSpPr>
          <p:cNvPr id="4" name="TextBox 3"/>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000" b="0" i="0">
                <a:solidFill>
                  <a:srgbClr val="5B677A"/>
                </a:solidFill>
                <a:latin typeface="Calibri"/>
              </a:rPr>
              <a:t>Grupo 5 · Programación para la Ciencia de Datos</a:t>
            </a:r>
          </a:p>
        </p:txBody>
      </p:sp>
      <p:sp>
        <p:nvSpPr>
          <p:cNvPr id="5" name="TextBox 4"/>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B677A"/>
                </a:solidFill>
                <a:latin typeface="Calibri"/>
              </a:rPr>
              <a:t>6 / 10</a:t>
            </a:r>
          </a:p>
        </p:txBody>
      </p:sp>
      <p:sp>
        <p:nvSpPr>
          <p:cNvPr id="9" name="Rounded Rectangle 8"/>
          <p:cNvSpPr/>
          <p:nvPr/>
        </p:nvSpPr>
        <p:spPr>
          <a:xfrm>
            <a:off x="7955279" y="1463040"/>
            <a:ext cx="3657600" cy="46634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691640"/>
            <a:ext cx="3200400" cy="914400"/>
          </a:xfrm>
          <a:prstGeom prst="rect">
            <a:avLst/>
          </a:prstGeom>
          <a:noFill/>
        </p:spPr>
        <p:txBody>
          <a:bodyPr wrap="square" lIns="0" tIns="0" rIns="0" bIns="0" anchor="t">
            <a:spAutoFit/>
          </a:bodyPr>
          <a:lstStyle/>
          <a:p>
            <a:pPr algn="l">
              <a:spcAft>
                <a:spcPts val="0"/>
              </a:spcAft>
            </a:pPr>
            <a:r>
              <a:rPr sz="4800" b="1" i="0">
                <a:solidFill>
                  <a:srgbClr val="1F4E79"/>
                </a:solidFill>
                <a:latin typeface="Cambria"/>
              </a:rPr>
              <a:t>66,8 %</a:t>
            </a:r>
          </a:p>
        </p:txBody>
      </p:sp>
      <p:sp>
        <p:nvSpPr>
          <p:cNvPr id="11" name="TextBox 10"/>
          <p:cNvSpPr txBox="1"/>
          <p:nvPr/>
        </p:nvSpPr>
        <p:spPr>
          <a:xfrm>
            <a:off x="8229600" y="2560320"/>
            <a:ext cx="3108960" cy="365760"/>
          </a:xfrm>
          <a:prstGeom prst="rect">
            <a:avLst/>
          </a:prstGeom>
          <a:noFill/>
        </p:spPr>
        <p:txBody>
          <a:bodyPr wrap="square" lIns="0" tIns="0" rIns="0" bIns="0" anchor="t">
            <a:spAutoFit/>
          </a:bodyPr>
          <a:lstStyle/>
          <a:p>
            <a:pPr algn="l">
              <a:spcAft>
                <a:spcPts val="0"/>
              </a:spcAft>
            </a:pPr>
            <a:r>
              <a:rPr sz="1500" b="0" i="0">
                <a:solidFill>
                  <a:srgbClr val="5B677A"/>
                </a:solidFill>
                <a:latin typeface="Calibri"/>
              </a:rPr>
              <a:t>Grandes (n = 18.830)</a:t>
            </a:r>
          </a:p>
        </p:txBody>
      </p:sp>
      <p:sp>
        <p:nvSpPr>
          <p:cNvPr id="12" name="TextBox 11"/>
          <p:cNvSpPr txBox="1"/>
          <p:nvPr/>
        </p:nvSpPr>
        <p:spPr>
          <a:xfrm>
            <a:off x="8229600" y="3017520"/>
            <a:ext cx="3200400" cy="914400"/>
          </a:xfrm>
          <a:prstGeom prst="rect">
            <a:avLst/>
          </a:prstGeom>
          <a:noFill/>
        </p:spPr>
        <p:txBody>
          <a:bodyPr wrap="square" lIns="0" tIns="0" rIns="0" bIns="0" anchor="t">
            <a:spAutoFit/>
          </a:bodyPr>
          <a:lstStyle/>
          <a:p>
            <a:pPr algn="l">
              <a:spcAft>
                <a:spcPts val="0"/>
              </a:spcAft>
            </a:pPr>
            <a:r>
              <a:rPr sz="4800" b="1" i="0">
                <a:solidFill>
                  <a:srgbClr val="B23A3A"/>
                </a:solidFill>
                <a:latin typeface="Cambria"/>
              </a:rPr>
              <a:t>52,0 %</a:t>
            </a:r>
          </a:p>
        </p:txBody>
      </p:sp>
      <p:sp>
        <p:nvSpPr>
          <p:cNvPr id="13" name="TextBox 12"/>
          <p:cNvSpPr txBox="1"/>
          <p:nvPr/>
        </p:nvSpPr>
        <p:spPr>
          <a:xfrm>
            <a:off x="8229600" y="3886200"/>
            <a:ext cx="3108960" cy="365760"/>
          </a:xfrm>
          <a:prstGeom prst="rect">
            <a:avLst/>
          </a:prstGeom>
          <a:noFill/>
        </p:spPr>
        <p:txBody>
          <a:bodyPr wrap="square" lIns="0" tIns="0" rIns="0" bIns="0" anchor="t">
            <a:spAutoFit/>
          </a:bodyPr>
          <a:lstStyle/>
          <a:p>
            <a:pPr algn="l">
              <a:spcAft>
                <a:spcPts val="0"/>
              </a:spcAft>
            </a:pPr>
            <a:r>
              <a:rPr sz="1500" b="0" i="0">
                <a:solidFill>
                  <a:srgbClr val="5B677A"/>
                </a:solidFill>
                <a:latin typeface="Calibri"/>
              </a:rPr>
              <a:t>Micro (n = 3.234)</a:t>
            </a:r>
          </a:p>
        </p:txBody>
      </p:sp>
      <p:sp>
        <p:nvSpPr>
          <p:cNvPr id="14" name="TextBox 13"/>
          <p:cNvSpPr txBox="1"/>
          <p:nvPr/>
        </p:nvSpPr>
        <p:spPr>
          <a:xfrm>
            <a:off x="8229600" y="4480560"/>
            <a:ext cx="3154680" cy="1554480"/>
          </a:xfrm>
          <a:prstGeom prst="rect">
            <a:avLst/>
          </a:prstGeom>
          <a:noFill/>
        </p:spPr>
        <p:txBody>
          <a:bodyPr wrap="square" lIns="0" tIns="0" rIns="0" bIns="0" anchor="t">
            <a:spAutoFit/>
          </a:bodyPr>
          <a:lstStyle/>
          <a:p>
            <a:pPr algn="l">
              <a:spcAft>
                <a:spcPts val="0"/>
              </a:spcAft>
            </a:pPr>
            <a:r>
              <a:rPr sz="1400" b="1" i="0">
                <a:solidFill>
                  <a:srgbClr val="1B3A5C"/>
                </a:solidFill>
                <a:latin typeface="Calibri"/>
              </a:rPr>
              <a:t>H1 respaldada en su dirección general. </a:t>
            </a:r>
            <a:r>
              <a:rPr sz="1400" b="0" i="0">
                <a:solidFill>
                  <a:srgbClr val="1A2433"/>
                </a:solidFill>
                <a:latin typeface="Calibri"/>
              </a:rPr>
              <a:t>Entre micro, pequeña y mediana la diferencia es pequeña: no crece de forma uniforme.</a:t>
            </a:r>
          </a:p>
        </p:txBody>
      </p:sp>
      <p:pic>
        <p:nvPicPr>
          <p:cNvPr id="15" name="Figura notebook F4" descr="grafico1_tamano_proveedor.png"/>
          <p:cNvPicPr>
            <a:picLocks noChangeAspect="1"/>
          </p:cNvPicPr>
          <p:nvPr/>
        </p:nvPicPr>
        <p:blipFill>
          <a:blip r:embed="rId4"/>
          <a:stretch>
            <a:fillRect/>
          </a:stretch>
        </p:blipFill>
        <p:spPr>
          <a:xfrm>
            <a:off x="457200" y="1796314"/>
            <a:ext cx="7315200" cy="40426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8778240" cy="731520"/>
          </a:xfrm>
          <a:prstGeom prst="rect">
            <a:avLst/>
          </a:prstGeom>
          <a:noFill/>
        </p:spPr>
        <p:txBody>
          <a:bodyPr wrap="square" lIns="0" tIns="0" rIns="0" bIns="0" anchor="ctr">
            <a:spAutoFit/>
          </a:bodyPr>
          <a:lstStyle/>
          <a:p>
            <a:pPr algn="l">
              <a:spcAft>
                <a:spcPts val="0"/>
              </a:spcAft>
            </a:pPr>
            <a:r>
              <a:rPr sz="3400" b="1" i="0">
                <a:solidFill>
                  <a:srgbClr val="1B3A5C"/>
                </a:solidFill>
                <a:latin typeface="Cambria"/>
              </a:rPr>
              <a:t>A mayor cuantía, menos ofertas ganadoras</a:t>
            </a:r>
          </a:p>
        </p:txBody>
      </p:sp>
      <p:sp>
        <p:nvSpPr>
          <p:cNvPr id="4" name="TextBox 3"/>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000" b="0" i="0">
                <a:solidFill>
                  <a:srgbClr val="5B677A"/>
                </a:solidFill>
                <a:latin typeface="Calibri"/>
              </a:rPr>
              <a:t>Grupo 5 · Programación para la Ciencia de Datos</a:t>
            </a:r>
          </a:p>
        </p:txBody>
      </p:sp>
      <p:sp>
        <p:nvSpPr>
          <p:cNvPr id="5" name="TextBox 4"/>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B677A"/>
                </a:solidFill>
                <a:latin typeface="Calibri"/>
              </a:rPr>
              <a:t>7 / 10</a:t>
            </a:r>
          </a:p>
        </p:txBody>
      </p:sp>
      <p:sp>
        <p:nvSpPr>
          <p:cNvPr id="9" name="Rounded Rectangle 8"/>
          <p:cNvSpPr/>
          <p:nvPr/>
        </p:nvSpPr>
        <p:spPr>
          <a:xfrm>
            <a:off x="7955279" y="1463040"/>
            <a:ext cx="3657600" cy="46634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691640"/>
            <a:ext cx="3200400" cy="365760"/>
          </a:xfrm>
          <a:prstGeom prst="rect">
            <a:avLst/>
          </a:prstGeom>
          <a:noFill/>
        </p:spPr>
        <p:txBody>
          <a:bodyPr wrap="square" lIns="0" tIns="0" rIns="0" bIns="0" anchor="t">
            <a:spAutoFit/>
          </a:bodyPr>
          <a:lstStyle/>
          <a:p>
            <a:pPr algn="l">
              <a:spcAft>
                <a:spcPts val="0"/>
              </a:spcAft>
            </a:pPr>
            <a:r>
              <a:rPr sz="1800" b="1" i="0">
                <a:solidFill>
                  <a:srgbClr val="1B3A5C"/>
                </a:solidFill>
                <a:latin typeface="Cambria"/>
              </a:rPr>
              <a:t>Sobre 100 UTM</a:t>
            </a:r>
          </a:p>
        </p:txBody>
      </p:sp>
      <p:sp>
        <p:nvSpPr>
          <p:cNvPr id="11" name="Oval 10"/>
          <p:cNvSpPr/>
          <p:nvPr/>
        </p:nvSpPr>
        <p:spPr>
          <a:xfrm>
            <a:off x="8229600" y="2240280"/>
            <a:ext cx="502920" cy="5029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LE</a:t>
            </a:r>
          </a:p>
        </p:txBody>
      </p:sp>
      <p:sp>
        <p:nvSpPr>
          <p:cNvPr id="12" name="TextBox 11"/>
          <p:cNvSpPr txBox="1"/>
          <p:nvPr/>
        </p:nvSpPr>
        <p:spPr>
          <a:xfrm>
            <a:off x="8915400" y="2240280"/>
            <a:ext cx="1371600" cy="502920"/>
          </a:xfrm>
          <a:prstGeom prst="rect">
            <a:avLst/>
          </a:prstGeom>
          <a:noFill/>
        </p:spPr>
        <p:txBody>
          <a:bodyPr wrap="square" lIns="0" tIns="0" rIns="0" bIns="0" anchor="ctr">
            <a:spAutoFit/>
          </a:bodyPr>
          <a:lstStyle/>
          <a:p>
            <a:pPr algn="l">
              <a:spcAft>
                <a:spcPts val="0"/>
              </a:spcAft>
            </a:pPr>
            <a:r>
              <a:rPr sz="2200" b="1" i="0">
                <a:solidFill>
                  <a:srgbClr val="1B3A5C"/>
                </a:solidFill>
                <a:latin typeface="Calibri"/>
              </a:rPr>
              <a:t>62,3 %</a:t>
            </a:r>
          </a:p>
        </p:txBody>
      </p:sp>
      <p:sp>
        <p:nvSpPr>
          <p:cNvPr id="13" name="TextBox 12"/>
          <p:cNvSpPr txBox="1"/>
          <p:nvPr/>
        </p:nvSpPr>
        <p:spPr>
          <a:xfrm>
            <a:off x="10241280" y="2240280"/>
            <a:ext cx="1280160" cy="502920"/>
          </a:xfrm>
          <a:prstGeom prst="rect">
            <a:avLst/>
          </a:prstGeom>
          <a:noFill/>
        </p:spPr>
        <p:txBody>
          <a:bodyPr wrap="square" lIns="0" tIns="0" rIns="0" bIns="0" anchor="ctr">
            <a:spAutoFit/>
          </a:bodyPr>
          <a:lstStyle/>
          <a:p>
            <a:pPr algn="l">
              <a:spcAft>
                <a:spcPts val="0"/>
              </a:spcAft>
            </a:pPr>
            <a:r>
              <a:rPr sz="1300" b="0" i="0">
                <a:solidFill>
                  <a:srgbClr val="5B677A"/>
                </a:solidFill>
                <a:latin typeface="Calibri"/>
              </a:rPr>
              <a:t>n = 23.590</a:t>
            </a:r>
          </a:p>
        </p:txBody>
      </p:sp>
      <p:sp>
        <p:nvSpPr>
          <p:cNvPr id="14" name="Oval 13"/>
          <p:cNvSpPr/>
          <p:nvPr/>
        </p:nvSpPr>
        <p:spPr>
          <a:xfrm>
            <a:off x="8229600" y="2926080"/>
            <a:ext cx="502920" cy="5029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LP</a:t>
            </a:r>
          </a:p>
        </p:txBody>
      </p:sp>
      <p:sp>
        <p:nvSpPr>
          <p:cNvPr id="15" name="TextBox 14"/>
          <p:cNvSpPr txBox="1"/>
          <p:nvPr/>
        </p:nvSpPr>
        <p:spPr>
          <a:xfrm>
            <a:off x="8915400" y="2926080"/>
            <a:ext cx="1371600" cy="502920"/>
          </a:xfrm>
          <a:prstGeom prst="rect">
            <a:avLst/>
          </a:prstGeom>
          <a:noFill/>
        </p:spPr>
        <p:txBody>
          <a:bodyPr wrap="square" lIns="0" tIns="0" rIns="0" bIns="0" anchor="ctr">
            <a:spAutoFit/>
          </a:bodyPr>
          <a:lstStyle/>
          <a:p>
            <a:pPr algn="l">
              <a:spcAft>
                <a:spcPts val="0"/>
              </a:spcAft>
            </a:pPr>
            <a:r>
              <a:rPr sz="2200" b="1" i="0">
                <a:solidFill>
                  <a:srgbClr val="1B3A5C"/>
                </a:solidFill>
                <a:latin typeface="Calibri"/>
              </a:rPr>
              <a:t>56,0 %</a:t>
            </a:r>
          </a:p>
        </p:txBody>
      </p:sp>
      <p:sp>
        <p:nvSpPr>
          <p:cNvPr id="16" name="TextBox 15"/>
          <p:cNvSpPr txBox="1"/>
          <p:nvPr/>
        </p:nvSpPr>
        <p:spPr>
          <a:xfrm>
            <a:off x="10241280" y="2926080"/>
            <a:ext cx="1280160" cy="502920"/>
          </a:xfrm>
          <a:prstGeom prst="rect">
            <a:avLst/>
          </a:prstGeom>
          <a:noFill/>
        </p:spPr>
        <p:txBody>
          <a:bodyPr wrap="square" lIns="0" tIns="0" rIns="0" bIns="0" anchor="ctr">
            <a:spAutoFit/>
          </a:bodyPr>
          <a:lstStyle/>
          <a:p>
            <a:pPr algn="l">
              <a:spcAft>
                <a:spcPts val="0"/>
              </a:spcAft>
            </a:pPr>
            <a:r>
              <a:rPr sz="1300" b="0" i="0">
                <a:solidFill>
                  <a:srgbClr val="5B677A"/>
                </a:solidFill>
                <a:latin typeface="Calibri"/>
              </a:rPr>
              <a:t>n = 14.394</a:t>
            </a:r>
          </a:p>
        </p:txBody>
      </p:sp>
      <p:sp>
        <p:nvSpPr>
          <p:cNvPr id="17" name="Oval 16"/>
          <p:cNvSpPr/>
          <p:nvPr/>
        </p:nvSpPr>
        <p:spPr>
          <a:xfrm>
            <a:off x="8229600" y="3611880"/>
            <a:ext cx="502920" cy="5029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mbria"/>
              </a:rPr>
              <a:t>LR</a:t>
            </a:r>
          </a:p>
        </p:txBody>
      </p:sp>
      <p:sp>
        <p:nvSpPr>
          <p:cNvPr id="18" name="TextBox 17"/>
          <p:cNvSpPr txBox="1"/>
          <p:nvPr/>
        </p:nvSpPr>
        <p:spPr>
          <a:xfrm>
            <a:off x="8915400" y="3611880"/>
            <a:ext cx="1371600" cy="502920"/>
          </a:xfrm>
          <a:prstGeom prst="rect">
            <a:avLst/>
          </a:prstGeom>
          <a:noFill/>
        </p:spPr>
        <p:txBody>
          <a:bodyPr wrap="square" lIns="0" tIns="0" rIns="0" bIns="0" anchor="ctr">
            <a:spAutoFit/>
          </a:bodyPr>
          <a:lstStyle/>
          <a:p>
            <a:pPr algn="l">
              <a:spcAft>
                <a:spcPts val="0"/>
              </a:spcAft>
            </a:pPr>
            <a:r>
              <a:rPr sz="2200" b="1" i="0">
                <a:solidFill>
                  <a:srgbClr val="1B3A5C"/>
                </a:solidFill>
                <a:latin typeface="Calibri"/>
              </a:rPr>
              <a:t>51,5 %</a:t>
            </a:r>
          </a:p>
        </p:txBody>
      </p:sp>
      <p:sp>
        <p:nvSpPr>
          <p:cNvPr id="19" name="TextBox 18"/>
          <p:cNvSpPr txBox="1"/>
          <p:nvPr/>
        </p:nvSpPr>
        <p:spPr>
          <a:xfrm>
            <a:off x="10241280" y="3611880"/>
            <a:ext cx="1280160" cy="502920"/>
          </a:xfrm>
          <a:prstGeom prst="rect">
            <a:avLst/>
          </a:prstGeom>
          <a:noFill/>
        </p:spPr>
        <p:txBody>
          <a:bodyPr wrap="square" lIns="0" tIns="0" rIns="0" bIns="0" anchor="ctr">
            <a:spAutoFit/>
          </a:bodyPr>
          <a:lstStyle/>
          <a:p>
            <a:pPr algn="l">
              <a:spcAft>
                <a:spcPts val="0"/>
              </a:spcAft>
            </a:pPr>
            <a:r>
              <a:rPr sz="1300" b="0" i="0">
                <a:solidFill>
                  <a:srgbClr val="5B677A"/>
                </a:solidFill>
                <a:latin typeface="Calibri"/>
              </a:rPr>
              <a:t>n = 3.211</a:t>
            </a:r>
          </a:p>
        </p:txBody>
      </p:sp>
      <p:sp>
        <p:nvSpPr>
          <p:cNvPr id="20" name="TextBox 19"/>
          <p:cNvSpPr txBox="1"/>
          <p:nvPr/>
        </p:nvSpPr>
        <p:spPr>
          <a:xfrm>
            <a:off x="8229600" y="4434840"/>
            <a:ext cx="3154680" cy="1554480"/>
          </a:xfrm>
          <a:prstGeom prst="rect">
            <a:avLst/>
          </a:prstGeom>
          <a:noFill/>
        </p:spPr>
        <p:txBody>
          <a:bodyPr wrap="square" lIns="0" tIns="0" rIns="0" bIns="0" anchor="t">
            <a:spAutoFit/>
          </a:bodyPr>
          <a:lstStyle/>
          <a:p>
            <a:pPr algn="l">
              <a:spcAft>
                <a:spcPts val="0"/>
              </a:spcAft>
            </a:pPr>
            <a:r>
              <a:rPr sz="1400" b="1" i="0">
                <a:solidFill>
                  <a:srgbClr val="1B3A5C"/>
                </a:solidFill>
                <a:latin typeface="Calibri"/>
              </a:rPr>
              <a:t>Es una asociación descriptiva: los datos no permiten atribuirla a una causa. Las privadas tienen muy pocos registros y no se interpretan como tendencia.</a:t>
            </a:r>
          </a:p>
        </p:txBody>
      </p:sp>
      <p:pic>
        <p:nvPicPr>
          <p:cNvPr id="21" name="Figura notebook F4" descr="grafico2_tipo_licitacion.png"/>
          <p:cNvPicPr>
            <a:picLocks noChangeAspect="1"/>
          </p:cNvPicPr>
          <p:nvPr/>
        </p:nvPicPr>
        <p:blipFill>
          <a:blip r:embed="rId4"/>
          <a:stretch>
            <a:fillRect/>
          </a:stretch>
        </p:blipFill>
        <p:spPr>
          <a:xfrm>
            <a:off x="573258" y="1394460"/>
            <a:ext cx="7083083" cy="4846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8778240" cy="731520"/>
          </a:xfrm>
          <a:prstGeom prst="rect">
            <a:avLst/>
          </a:prstGeom>
          <a:noFill/>
        </p:spPr>
        <p:txBody>
          <a:bodyPr wrap="square" lIns="0" tIns="0" rIns="0" bIns="0" anchor="ctr">
            <a:spAutoFit/>
          </a:bodyPr>
          <a:lstStyle/>
          <a:p>
            <a:pPr algn="l">
              <a:spcAft>
                <a:spcPts val="0"/>
              </a:spcAft>
            </a:pPr>
            <a:r>
              <a:rPr sz="3400" b="1" i="0">
                <a:solidFill>
                  <a:srgbClr val="1B3A5C"/>
                </a:solidFill>
                <a:latin typeface="Cambria"/>
              </a:rPr>
              <a:t>Los plazos de cierre crecen con la cuantía</a:t>
            </a:r>
          </a:p>
        </p:txBody>
      </p:sp>
      <p:sp>
        <p:nvSpPr>
          <p:cNvPr id="4" name="TextBox 3"/>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000" b="0" i="0">
                <a:solidFill>
                  <a:srgbClr val="5B677A"/>
                </a:solidFill>
                <a:latin typeface="Calibri"/>
              </a:rPr>
              <a:t>Grupo 5 · Programación para la Ciencia de Datos</a:t>
            </a:r>
          </a:p>
        </p:txBody>
      </p:sp>
      <p:sp>
        <p:nvSpPr>
          <p:cNvPr id="5" name="TextBox 4"/>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B677A"/>
                </a:solidFill>
                <a:latin typeface="Calibri"/>
              </a:rPr>
              <a:t>8 / 10</a:t>
            </a:r>
          </a:p>
        </p:txBody>
      </p:sp>
      <p:sp>
        <p:nvSpPr>
          <p:cNvPr id="9" name="Rounded Rectangle 8"/>
          <p:cNvSpPr/>
          <p:nvPr/>
        </p:nvSpPr>
        <p:spPr>
          <a:xfrm>
            <a:off x="7955279" y="1463040"/>
            <a:ext cx="3657600" cy="4663440"/>
          </a:xfrm>
          <a:prstGeom prst="roundRect">
            <a:avLst>
              <a:gd name="adj" fmla="val 8000"/>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737360"/>
            <a:ext cx="3200400" cy="1188720"/>
          </a:xfrm>
          <a:prstGeom prst="rect">
            <a:avLst/>
          </a:prstGeom>
          <a:noFill/>
        </p:spPr>
        <p:txBody>
          <a:bodyPr wrap="square" lIns="0" tIns="0" rIns="0" bIns="0" anchor="t">
            <a:spAutoFit/>
          </a:bodyPr>
          <a:lstStyle/>
          <a:p>
            <a:pPr algn="l">
              <a:spcAft>
                <a:spcPts val="0"/>
              </a:spcAft>
            </a:pPr>
            <a:r>
              <a:rPr sz="7200" b="1" i="0">
                <a:solidFill>
                  <a:srgbClr val="FFFFFF"/>
                </a:solidFill>
                <a:latin typeface="Cambria"/>
              </a:rPr>
              <a:t>4,4×</a:t>
            </a:r>
          </a:p>
        </p:txBody>
      </p:sp>
      <p:sp>
        <p:nvSpPr>
          <p:cNvPr id="11" name="TextBox 10"/>
          <p:cNvSpPr txBox="1"/>
          <p:nvPr/>
        </p:nvSpPr>
        <p:spPr>
          <a:xfrm>
            <a:off x="8229600" y="3017520"/>
            <a:ext cx="3108960" cy="822960"/>
          </a:xfrm>
          <a:prstGeom prst="rect">
            <a:avLst/>
          </a:prstGeom>
          <a:noFill/>
        </p:spPr>
        <p:txBody>
          <a:bodyPr wrap="square" lIns="0" tIns="0" rIns="0" bIns="0" anchor="t">
            <a:spAutoFit/>
          </a:bodyPr>
          <a:lstStyle/>
          <a:p>
            <a:pPr algn="l">
              <a:spcAft>
                <a:spcPts val="0"/>
              </a:spcAft>
            </a:pPr>
            <a:r>
              <a:rPr sz="1600" b="0" i="0">
                <a:solidFill>
                  <a:srgbClr val="C9D7E8"/>
                </a:solidFill>
                <a:latin typeface="Calibri"/>
              </a:rPr>
              <a:t>más días de plazo en LR (32) que en L1 (7,2)</a:t>
            </a:r>
          </a:p>
        </p:txBody>
      </p:sp>
      <p:sp>
        <p:nvSpPr>
          <p:cNvPr id="12" name="TextBox 11"/>
          <p:cNvSpPr txBox="1"/>
          <p:nvPr/>
        </p:nvSpPr>
        <p:spPr>
          <a:xfrm>
            <a:off x="8229600" y="4160520"/>
            <a:ext cx="3154680" cy="1737360"/>
          </a:xfrm>
          <a:prstGeom prst="rect">
            <a:avLst/>
          </a:prstGeom>
          <a:noFill/>
        </p:spPr>
        <p:txBody>
          <a:bodyPr wrap="square" lIns="0" tIns="0" rIns="0" bIns="0" anchor="t">
            <a:spAutoFit/>
          </a:bodyPr>
          <a:lstStyle/>
          <a:p>
            <a:pPr algn="l">
              <a:spcAft>
                <a:spcPts val="0"/>
              </a:spcAft>
            </a:pPr>
            <a:r>
              <a:rPr sz="1400" b="0" i="0">
                <a:solidFill>
                  <a:srgbClr val="FFFFFF"/>
                </a:solidFill>
                <a:latin typeface="Calibri"/>
              </a:rPr>
              <a:t>Se calcula con una observación por licitación (1.864 procesos), para que los procesos con más ofertas no pesen más.</a:t>
            </a:r>
          </a:p>
        </p:txBody>
      </p:sp>
      <p:pic>
        <p:nvPicPr>
          <p:cNvPr id="13" name="Figura notebook F4" descr="grafico3_plazo_cierre.png"/>
          <p:cNvPicPr>
            <a:picLocks noChangeAspect="1"/>
          </p:cNvPicPr>
          <p:nvPr/>
        </p:nvPicPr>
        <p:blipFill>
          <a:blip r:embed="rId4"/>
          <a:stretch>
            <a:fillRect/>
          </a:stretch>
        </p:blipFill>
        <p:spPr>
          <a:xfrm>
            <a:off x="666107" y="1394460"/>
            <a:ext cx="6897384" cy="4846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8778240" cy="731520"/>
          </a:xfrm>
          <a:prstGeom prst="rect">
            <a:avLst/>
          </a:prstGeom>
          <a:noFill/>
        </p:spPr>
        <p:txBody>
          <a:bodyPr wrap="square" lIns="0" tIns="0" rIns="0" bIns="0" anchor="ctr">
            <a:spAutoFit/>
          </a:bodyPr>
          <a:lstStyle/>
          <a:p>
            <a:pPr algn="l">
              <a:spcAft>
                <a:spcPts val="0"/>
              </a:spcAft>
            </a:pPr>
            <a:r>
              <a:rPr sz="3400" b="1" i="0">
                <a:solidFill>
                  <a:srgbClr val="1B3A5C"/>
                </a:solidFill>
                <a:latin typeface="Cambria"/>
              </a:rPr>
              <a:t>Conclusiones</a:t>
            </a:r>
          </a:p>
        </p:txBody>
      </p:sp>
      <p:sp>
        <p:nvSpPr>
          <p:cNvPr id="4" name="TextBox 3"/>
          <p:cNvSpPr txBox="1"/>
          <p:nvPr/>
        </p:nvSpPr>
        <p:spPr>
          <a:xfrm>
            <a:off x="548640" y="6400800"/>
            <a:ext cx="8229600" cy="274320"/>
          </a:xfrm>
          <a:prstGeom prst="rect">
            <a:avLst/>
          </a:prstGeom>
          <a:noFill/>
        </p:spPr>
        <p:txBody>
          <a:bodyPr wrap="square" lIns="0" tIns="0" rIns="0" bIns="0" anchor="t">
            <a:spAutoFit/>
          </a:bodyPr>
          <a:lstStyle/>
          <a:p>
            <a:pPr algn="l">
              <a:spcAft>
                <a:spcPts val="0"/>
              </a:spcAft>
            </a:pPr>
            <a:r>
              <a:rPr sz="1000" b="0" i="0">
                <a:solidFill>
                  <a:srgbClr val="5B677A"/>
                </a:solidFill>
                <a:latin typeface="Calibri"/>
              </a:rPr>
              <a:t>Grupo 5 · Programación para la Ciencia de Datos</a:t>
            </a:r>
          </a:p>
        </p:txBody>
      </p:sp>
      <p:sp>
        <p:nvSpPr>
          <p:cNvPr id="5" name="TextBox 4"/>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B677A"/>
                </a:solidFill>
                <a:latin typeface="Calibri"/>
              </a:rPr>
              <a:t>9 / 10</a:t>
            </a:r>
          </a:p>
        </p:txBody>
      </p:sp>
      <p:sp>
        <p:nvSpPr>
          <p:cNvPr id="6" name="Oval 5"/>
          <p:cNvSpPr/>
          <p:nvPr/>
        </p:nvSpPr>
        <p:spPr>
          <a:xfrm>
            <a:off x="548640" y="1508760"/>
            <a:ext cx="731520" cy="7315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1</a:t>
            </a:r>
          </a:p>
        </p:txBody>
      </p:sp>
      <p:sp>
        <p:nvSpPr>
          <p:cNvPr id="7" name="TextBox 6"/>
          <p:cNvSpPr txBox="1"/>
          <p:nvPr/>
        </p:nvSpPr>
        <p:spPr>
          <a:xfrm>
            <a:off x="1508760" y="1490472"/>
            <a:ext cx="5852160" cy="411480"/>
          </a:xfrm>
          <a:prstGeom prst="rect">
            <a:avLst/>
          </a:prstGeom>
          <a:noFill/>
        </p:spPr>
        <p:txBody>
          <a:bodyPr wrap="square" lIns="0" tIns="0" rIns="0" bIns="0" anchor="t">
            <a:spAutoFit/>
          </a:bodyPr>
          <a:lstStyle/>
          <a:p>
            <a:pPr algn="l">
              <a:spcAft>
                <a:spcPts val="0"/>
              </a:spcAft>
            </a:pPr>
            <a:r>
              <a:rPr sz="1900" b="1" i="0">
                <a:solidFill>
                  <a:srgbClr val="1B3A5C"/>
                </a:solidFill>
                <a:latin typeface="Cambria"/>
              </a:rPr>
              <a:t>Datos complejos, resultado reproducible</a:t>
            </a:r>
          </a:p>
        </p:txBody>
      </p:sp>
      <p:sp>
        <p:nvSpPr>
          <p:cNvPr id="8" name="TextBox 7"/>
          <p:cNvSpPr txBox="1"/>
          <p:nvPr/>
        </p:nvSpPr>
        <p:spPr>
          <a:xfrm>
            <a:off x="1508760" y="1920240"/>
            <a:ext cx="5852160" cy="640080"/>
          </a:xfrm>
          <a:prstGeom prst="rect">
            <a:avLst/>
          </a:prstGeom>
          <a:noFill/>
        </p:spPr>
        <p:txBody>
          <a:bodyPr wrap="square" lIns="0" tIns="0" rIns="0" bIns="0" anchor="t">
            <a:spAutoFit/>
          </a:bodyPr>
          <a:lstStyle/>
          <a:p>
            <a:pPr algn="l">
              <a:spcAft>
                <a:spcPts val="0"/>
              </a:spcAft>
            </a:pPr>
            <a:r>
              <a:rPr sz="1500" b="0" i="0">
                <a:solidFill>
                  <a:srgbClr val="1A2433"/>
                </a:solidFill>
                <a:latin typeface="Calibri"/>
              </a:rPr>
              <a:t>Un flujo documentado convierte datos administrativos en información comprensible.</a:t>
            </a:r>
          </a:p>
        </p:txBody>
      </p:sp>
      <p:sp>
        <p:nvSpPr>
          <p:cNvPr id="9" name="Oval 8"/>
          <p:cNvSpPr/>
          <p:nvPr/>
        </p:nvSpPr>
        <p:spPr>
          <a:xfrm>
            <a:off x="548640" y="2697480"/>
            <a:ext cx="731520" cy="7315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2</a:t>
            </a:r>
          </a:p>
        </p:txBody>
      </p:sp>
      <p:sp>
        <p:nvSpPr>
          <p:cNvPr id="10" name="TextBox 9"/>
          <p:cNvSpPr txBox="1"/>
          <p:nvPr/>
        </p:nvSpPr>
        <p:spPr>
          <a:xfrm>
            <a:off x="1508760" y="2679192"/>
            <a:ext cx="5852160" cy="411480"/>
          </a:xfrm>
          <a:prstGeom prst="rect">
            <a:avLst/>
          </a:prstGeom>
          <a:noFill/>
        </p:spPr>
        <p:txBody>
          <a:bodyPr wrap="square" lIns="0" tIns="0" rIns="0" bIns="0" anchor="t">
            <a:spAutoFit/>
          </a:bodyPr>
          <a:lstStyle/>
          <a:p>
            <a:pPr algn="l">
              <a:spcAft>
                <a:spcPts val="0"/>
              </a:spcAft>
            </a:pPr>
            <a:r>
              <a:rPr sz="1900" b="1" i="0">
                <a:solidFill>
                  <a:srgbClr val="1B3A5C"/>
                </a:solidFill>
                <a:latin typeface="Cambria"/>
              </a:rPr>
              <a:t>H1 respaldada parcialmente</a:t>
            </a:r>
          </a:p>
        </p:txBody>
      </p:sp>
      <p:sp>
        <p:nvSpPr>
          <p:cNvPr id="11" name="TextBox 10"/>
          <p:cNvSpPr txBox="1"/>
          <p:nvPr/>
        </p:nvSpPr>
        <p:spPr>
          <a:xfrm>
            <a:off x="1508760" y="3108960"/>
            <a:ext cx="5852160" cy="640080"/>
          </a:xfrm>
          <a:prstGeom prst="rect">
            <a:avLst/>
          </a:prstGeom>
          <a:noFill/>
        </p:spPr>
        <p:txBody>
          <a:bodyPr wrap="square" lIns="0" tIns="0" rIns="0" bIns="0" anchor="t">
            <a:spAutoFit/>
          </a:bodyPr>
          <a:lstStyle/>
          <a:p>
            <a:pPr algn="l">
              <a:spcAft>
                <a:spcPts val="0"/>
              </a:spcAft>
            </a:pPr>
            <a:r>
              <a:rPr sz="1500" b="0" i="0">
                <a:solidFill>
                  <a:srgbClr val="1A2433"/>
                </a:solidFill>
                <a:latin typeface="Calibri"/>
              </a:rPr>
              <a:t>Los grandes ganan más (66,8 % vs. 52,0 %), pero sin una progresión uniforme por tamaño.</a:t>
            </a:r>
          </a:p>
        </p:txBody>
      </p:sp>
      <p:sp>
        <p:nvSpPr>
          <p:cNvPr id="12" name="Oval 11"/>
          <p:cNvSpPr/>
          <p:nvPr/>
        </p:nvSpPr>
        <p:spPr>
          <a:xfrm>
            <a:off x="548640" y="3886200"/>
            <a:ext cx="731520" cy="7315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mbria"/>
              </a:rPr>
              <a:t>3</a:t>
            </a:r>
          </a:p>
        </p:txBody>
      </p:sp>
      <p:sp>
        <p:nvSpPr>
          <p:cNvPr id="13" name="TextBox 12"/>
          <p:cNvSpPr txBox="1"/>
          <p:nvPr/>
        </p:nvSpPr>
        <p:spPr>
          <a:xfrm>
            <a:off x="1508760" y="3867912"/>
            <a:ext cx="5852160" cy="411480"/>
          </a:xfrm>
          <a:prstGeom prst="rect">
            <a:avLst/>
          </a:prstGeom>
          <a:noFill/>
        </p:spPr>
        <p:txBody>
          <a:bodyPr wrap="square" lIns="0" tIns="0" rIns="0" bIns="0" anchor="t">
            <a:spAutoFit/>
          </a:bodyPr>
          <a:lstStyle/>
          <a:p>
            <a:pPr algn="l">
              <a:spcAft>
                <a:spcPts val="0"/>
              </a:spcAft>
            </a:pPr>
            <a:r>
              <a:rPr sz="1900" b="1" i="0">
                <a:solidFill>
                  <a:srgbClr val="1B3A5C"/>
                </a:solidFill>
                <a:latin typeface="Cambria"/>
              </a:rPr>
              <a:t>La cuantía importa</a:t>
            </a:r>
          </a:p>
        </p:txBody>
      </p:sp>
      <p:sp>
        <p:nvSpPr>
          <p:cNvPr id="14" name="TextBox 13"/>
          <p:cNvSpPr txBox="1"/>
          <p:nvPr/>
        </p:nvSpPr>
        <p:spPr>
          <a:xfrm>
            <a:off x="1508760" y="4297680"/>
            <a:ext cx="5852160" cy="640080"/>
          </a:xfrm>
          <a:prstGeom prst="rect">
            <a:avLst/>
          </a:prstGeom>
          <a:noFill/>
        </p:spPr>
        <p:txBody>
          <a:bodyPr wrap="square" lIns="0" tIns="0" rIns="0" bIns="0" anchor="t">
            <a:spAutoFit/>
          </a:bodyPr>
          <a:lstStyle/>
          <a:p>
            <a:pPr algn="l">
              <a:spcAft>
                <a:spcPts val="0"/>
              </a:spcAft>
            </a:pPr>
            <a:r>
              <a:rPr sz="1500" b="0" i="0">
                <a:solidFill>
                  <a:srgbClr val="1A2433"/>
                </a:solidFill>
                <a:latin typeface="Calibri"/>
              </a:rPr>
              <a:t>Más monto implica menos ofertas ganadoras y plazos de cierre más largos.</a:t>
            </a:r>
          </a:p>
        </p:txBody>
      </p:sp>
      <p:sp>
        <p:nvSpPr>
          <p:cNvPr id="15" name="Rounded Rectangle 14"/>
          <p:cNvSpPr/>
          <p:nvPr/>
        </p:nvSpPr>
        <p:spPr>
          <a:xfrm>
            <a:off x="7863840" y="1463040"/>
            <a:ext cx="3749039" cy="34290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79" y="1691640"/>
            <a:ext cx="3200400" cy="457200"/>
          </a:xfrm>
          <a:prstGeom prst="rect">
            <a:avLst/>
          </a:prstGeom>
          <a:noFill/>
        </p:spPr>
        <p:txBody>
          <a:bodyPr wrap="square" lIns="0" tIns="0" rIns="0" bIns="0" anchor="t">
            <a:spAutoFit/>
          </a:bodyPr>
          <a:lstStyle/>
          <a:p>
            <a:pPr algn="l">
              <a:spcAft>
                <a:spcPts val="0"/>
              </a:spcAft>
            </a:pPr>
            <a:r>
              <a:rPr sz="1900" b="1" i="0">
                <a:solidFill>
                  <a:srgbClr val="B23A3A"/>
                </a:solidFill>
                <a:latin typeface="Cambria"/>
              </a:rPr>
              <a:t>Límites y riesgos</a:t>
            </a:r>
          </a:p>
        </p:txBody>
      </p:sp>
      <p:sp>
        <p:nvSpPr>
          <p:cNvPr id="17" name="TextBox 16"/>
          <p:cNvSpPr txBox="1"/>
          <p:nvPr/>
        </p:nvSpPr>
        <p:spPr>
          <a:xfrm>
            <a:off x="8183879" y="2286000"/>
            <a:ext cx="3154680" cy="3657600"/>
          </a:xfrm>
          <a:prstGeom prst="rect">
            <a:avLst/>
          </a:prstGeom>
          <a:noFill/>
        </p:spPr>
        <p:txBody>
          <a:bodyPr wrap="square" lIns="0" tIns="0" rIns="0" bIns="0" anchor="t">
            <a:spAutoFit/>
          </a:bodyPr>
          <a:lstStyle/>
          <a:p>
            <a:pPr algn="l">
              <a:spcAft>
                <a:spcPts val="1400"/>
              </a:spcAft>
            </a:pPr>
            <a:r>
              <a:rPr sz="1500" b="1" i="0">
                <a:solidFill>
                  <a:srgbClr val="1A2433"/>
                </a:solidFill>
                <a:latin typeface="Calibri"/>
              </a:rPr>
              <a:t>Asociaciones descriptivas, </a:t>
            </a:r>
            <a:r>
              <a:rPr sz="1500" b="0" i="0">
                <a:solidFill>
                  <a:srgbClr val="1A2433"/>
                </a:solidFill>
                <a:latin typeface="Calibri"/>
              </a:rPr>
              <a:t>no relaciones causales.</a:t>
            </a:r>
          </a:p>
          <a:p>
            <a:pPr algn="l">
              <a:spcAft>
                <a:spcPts val="1400"/>
              </a:spcAft>
            </a:pPr>
            <a:r>
              <a:rPr sz="1500" b="1" i="0">
                <a:solidFill>
                  <a:srgbClr val="1A2433"/>
                </a:solidFill>
                <a:latin typeface="Calibri"/>
              </a:rPr>
              <a:t>Pocas observaciones </a:t>
            </a:r>
            <a:r>
              <a:rPr sz="1500" b="0" i="0">
                <a:solidFill>
                  <a:srgbClr val="1A2433"/>
                </a:solidFill>
                <a:latin typeface="Calibri"/>
              </a:rPr>
              <a:t>en las categorías privadas.</a:t>
            </a:r>
          </a:p>
          <a:p>
            <a:pPr algn="l">
              <a:spcAft>
                <a:spcPts val="1400"/>
              </a:spcAft>
            </a:pPr>
            <a:r>
              <a:rPr sz="1500" b="1" i="0">
                <a:solidFill>
                  <a:srgbClr val="1A2433"/>
                </a:solidFill>
                <a:latin typeface="Calibri"/>
              </a:rPr>
              <a:t>Un solo período </a:t>
            </a:r>
            <a:r>
              <a:rPr sz="1500" b="0" i="0">
                <a:solidFill>
                  <a:srgbClr val="1A2433"/>
                </a:solidFill>
                <a:latin typeface="Calibri"/>
              </a:rPr>
              <a:t>(marzo de 2026) y sin control por rubro u organismo.</a:t>
            </a:r>
          </a:p>
        </p:txBody>
      </p:sp>
      <p:sp>
        <p:nvSpPr>
          <p:cNvPr id="18" name="Rounded Rectangle 17"/>
          <p:cNvSpPr/>
          <p:nvPr/>
        </p:nvSpPr>
        <p:spPr>
          <a:xfrm>
            <a:off x="548640" y="5257800"/>
            <a:ext cx="11064240" cy="822960"/>
          </a:xfrm>
          <a:prstGeom prst="roundRect">
            <a:avLst>
              <a:gd name="adj" fmla="val 15000"/>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5257800"/>
            <a:ext cx="10515600" cy="822960"/>
          </a:xfrm>
          <a:prstGeom prst="rect">
            <a:avLst/>
          </a:prstGeom>
          <a:noFill/>
        </p:spPr>
        <p:txBody>
          <a:bodyPr wrap="square" lIns="0" tIns="0" rIns="0" bIns="0" anchor="ctr">
            <a:spAutoFit/>
          </a:bodyPr>
          <a:lstStyle/>
          <a:p>
            <a:pPr algn="l">
              <a:spcAft>
                <a:spcPts val="0"/>
              </a:spcAft>
            </a:pPr>
            <a:r>
              <a:rPr sz="1700" b="1" i="0">
                <a:solidFill>
                  <a:srgbClr val="FFFFFF"/>
                </a:solidFill>
                <a:latin typeface="Calibri"/>
              </a:rPr>
              <a:t>Los resultados describen un solo mes: confirmarlos con más datos es el siguiente paso.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3A5C"/>
        </a:solidFill>
        <a:effectLst/>
      </p:bgPr>
    </p:bg>
    <p:spTree>
      <p:nvGrpSpPr>
        <p:cNvPr id="1" name=""/>
        <p:cNvGrpSpPr/>
        <p:nvPr/>
      </p:nvGrpSpPr>
      <p:grpSpPr>
        <a:xfrm>
          <a:off x="0" y="0"/>
          <a:ext cx="0" cy="0"/>
          <a:chOff x="0" y="0"/>
          <a:chExt cx="0" cy="0"/>
        </a:xfrm>
      </p:grpSpPr>
      <p:sp>
        <p:nvSpPr>
          <p:cNvPr id="2" name="TextBox 1"/>
          <p:cNvSpPr txBox="1"/>
          <p:nvPr/>
        </p:nvSpPr>
        <p:spPr>
          <a:xfrm>
            <a:off x="731520" y="640080"/>
            <a:ext cx="10058400" cy="731520"/>
          </a:xfrm>
          <a:prstGeom prst="rect">
            <a:avLst/>
          </a:prstGeom>
          <a:noFill/>
        </p:spPr>
        <p:txBody>
          <a:bodyPr wrap="square" lIns="0" tIns="0" rIns="0" bIns="0" anchor="t">
            <a:spAutoFit/>
          </a:bodyPr>
          <a:lstStyle/>
          <a:p>
            <a:pPr algn="l">
              <a:spcAft>
                <a:spcPts val="0"/>
              </a:spcAft>
            </a:pPr>
            <a:r>
              <a:rPr sz="4000" b="1" i="0">
                <a:solidFill>
                  <a:srgbClr val="FFFFFF"/>
                </a:solidFill>
                <a:latin typeface="Cambria"/>
              </a:rPr>
              <a:t>Trabajo futuro</a:t>
            </a:r>
          </a:p>
        </p:txBody>
      </p:sp>
      <p:sp>
        <p:nvSpPr>
          <p:cNvPr id="3" name="Rounded Rectangle 2"/>
          <p:cNvSpPr/>
          <p:nvPr/>
        </p:nvSpPr>
        <p:spPr>
          <a:xfrm>
            <a:off x="731520" y="1737360"/>
            <a:ext cx="3383280" cy="2468880"/>
          </a:xfrm>
          <a:prstGeom prst="roundRect">
            <a:avLst>
              <a:gd name="adj" fmla="val 8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51560" y="20116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B3A5C"/>
                </a:solidFill>
                <a:latin typeface="Cambria"/>
              </a:rPr>
              <a:t>+</a:t>
            </a:r>
          </a:p>
        </p:txBody>
      </p:sp>
      <p:sp>
        <p:nvSpPr>
          <p:cNvPr id="5" name="TextBox 4"/>
          <p:cNvSpPr txBox="1"/>
          <p:nvPr/>
        </p:nvSpPr>
        <p:spPr>
          <a:xfrm>
            <a:off x="1051560" y="2788920"/>
            <a:ext cx="2834640" cy="411480"/>
          </a:xfrm>
          <a:prstGeom prst="rect">
            <a:avLst/>
          </a:prstGeom>
          <a:noFill/>
        </p:spPr>
        <p:txBody>
          <a:bodyPr wrap="square" lIns="0" tIns="0" rIns="0" bIns="0" anchor="t">
            <a:spAutoFit/>
          </a:bodyPr>
          <a:lstStyle/>
          <a:p>
            <a:pPr algn="l">
              <a:spcAft>
                <a:spcPts val="0"/>
              </a:spcAft>
            </a:pPr>
            <a:r>
              <a:rPr sz="1900" b="1" i="0">
                <a:solidFill>
                  <a:srgbClr val="FFFFFF"/>
                </a:solidFill>
                <a:latin typeface="Calibri"/>
              </a:rPr>
              <a:t>Nuevos períodos</a:t>
            </a:r>
          </a:p>
        </p:txBody>
      </p:sp>
      <p:sp>
        <p:nvSpPr>
          <p:cNvPr id="6" name="TextBox 5"/>
          <p:cNvSpPr txBox="1"/>
          <p:nvPr/>
        </p:nvSpPr>
        <p:spPr>
          <a:xfrm>
            <a:off x="1051560" y="3246120"/>
            <a:ext cx="2788920" cy="868680"/>
          </a:xfrm>
          <a:prstGeom prst="rect">
            <a:avLst/>
          </a:prstGeom>
          <a:noFill/>
        </p:spPr>
        <p:txBody>
          <a:bodyPr wrap="square" lIns="0" tIns="0" rIns="0" bIns="0" anchor="t">
            <a:spAutoFit/>
          </a:bodyPr>
          <a:lstStyle/>
          <a:p>
            <a:pPr algn="l">
              <a:spcAft>
                <a:spcPts val="0"/>
              </a:spcAft>
            </a:pPr>
            <a:r>
              <a:rPr sz="1500" b="0" i="0">
                <a:solidFill>
                  <a:srgbClr val="C9D7E8"/>
                </a:solidFill>
                <a:latin typeface="Calibri"/>
              </a:rPr>
              <a:t>Más meses o años para evaluar si los patrones se mantienen.</a:t>
            </a:r>
          </a:p>
        </p:txBody>
      </p:sp>
      <p:sp>
        <p:nvSpPr>
          <p:cNvPr id="7" name="Rounded Rectangle 6"/>
          <p:cNvSpPr/>
          <p:nvPr/>
        </p:nvSpPr>
        <p:spPr>
          <a:xfrm>
            <a:off x="4389120" y="1737360"/>
            <a:ext cx="3383280" cy="2468880"/>
          </a:xfrm>
          <a:prstGeom prst="roundRect">
            <a:avLst>
              <a:gd name="adj" fmla="val 8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709159" y="20116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B3A5C"/>
                </a:solidFill>
                <a:latin typeface="Cambria"/>
              </a:rPr>
              <a:t>≡</a:t>
            </a:r>
          </a:p>
        </p:txBody>
      </p:sp>
      <p:sp>
        <p:nvSpPr>
          <p:cNvPr id="9" name="TextBox 8"/>
          <p:cNvSpPr txBox="1"/>
          <p:nvPr/>
        </p:nvSpPr>
        <p:spPr>
          <a:xfrm>
            <a:off x="4709159" y="2788920"/>
            <a:ext cx="2834640" cy="411480"/>
          </a:xfrm>
          <a:prstGeom prst="rect">
            <a:avLst/>
          </a:prstGeom>
          <a:noFill/>
        </p:spPr>
        <p:txBody>
          <a:bodyPr wrap="square" lIns="0" tIns="0" rIns="0" bIns="0" anchor="t">
            <a:spAutoFit/>
          </a:bodyPr>
          <a:lstStyle/>
          <a:p>
            <a:pPr algn="l">
              <a:spcAft>
                <a:spcPts val="0"/>
              </a:spcAft>
            </a:pPr>
            <a:r>
              <a:rPr sz="1900" b="1" i="0">
                <a:solidFill>
                  <a:srgbClr val="FFFFFF"/>
                </a:solidFill>
                <a:latin typeface="Calibri"/>
              </a:rPr>
              <a:t>Controlar diferencias</a:t>
            </a:r>
          </a:p>
        </p:txBody>
      </p:sp>
      <p:sp>
        <p:nvSpPr>
          <p:cNvPr id="10" name="TextBox 9"/>
          <p:cNvSpPr txBox="1"/>
          <p:nvPr/>
        </p:nvSpPr>
        <p:spPr>
          <a:xfrm>
            <a:off x="4709159" y="3246120"/>
            <a:ext cx="2788920" cy="868680"/>
          </a:xfrm>
          <a:prstGeom prst="rect">
            <a:avLst/>
          </a:prstGeom>
          <a:noFill/>
        </p:spPr>
        <p:txBody>
          <a:bodyPr wrap="square" lIns="0" tIns="0" rIns="0" bIns="0" anchor="t">
            <a:spAutoFit/>
          </a:bodyPr>
          <a:lstStyle/>
          <a:p>
            <a:pPr algn="l">
              <a:spcAft>
                <a:spcPts val="0"/>
              </a:spcAft>
            </a:pPr>
            <a:r>
              <a:rPr sz="1500" b="0" i="0">
                <a:solidFill>
                  <a:srgbClr val="C9D7E8"/>
                </a:solidFill>
                <a:latin typeface="Calibri"/>
              </a:rPr>
              <a:t>Separar el efecto de rubros y organismos compradores.</a:t>
            </a:r>
          </a:p>
        </p:txBody>
      </p:sp>
      <p:sp>
        <p:nvSpPr>
          <p:cNvPr id="11" name="Rounded Rectangle 10"/>
          <p:cNvSpPr/>
          <p:nvPr/>
        </p:nvSpPr>
        <p:spPr>
          <a:xfrm>
            <a:off x="8046720" y="1737360"/>
            <a:ext cx="3383280" cy="2468880"/>
          </a:xfrm>
          <a:prstGeom prst="roundRect">
            <a:avLst>
              <a:gd name="adj" fmla="val 8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366760" y="20116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1B3A5C"/>
                </a:solidFill>
                <a:latin typeface="Cambria"/>
              </a:rPr>
              <a:t>◆</a:t>
            </a:r>
          </a:p>
        </p:txBody>
      </p:sp>
      <p:sp>
        <p:nvSpPr>
          <p:cNvPr id="13" name="TextBox 12"/>
          <p:cNvSpPr txBox="1"/>
          <p:nvPr/>
        </p:nvSpPr>
        <p:spPr>
          <a:xfrm>
            <a:off x="8366760" y="2788920"/>
            <a:ext cx="2834640" cy="411480"/>
          </a:xfrm>
          <a:prstGeom prst="rect">
            <a:avLst/>
          </a:prstGeom>
          <a:noFill/>
        </p:spPr>
        <p:txBody>
          <a:bodyPr wrap="square" lIns="0" tIns="0" rIns="0" bIns="0" anchor="t">
            <a:spAutoFit/>
          </a:bodyPr>
          <a:lstStyle/>
          <a:p>
            <a:pPr algn="l">
              <a:spcAft>
                <a:spcPts val="0"/>
              </a:spcAft>
            </a:pPr>
            <a:r>
              <a:rPr sz="1900" b="1" i="0">
                <a:solidFill>
                  <a:srgbClr val="FFFFFF"/>
                </a:solidFill>
                <a:latin typeface="Calibri"/>
              </a:rPr>
              <a:t>Más variables</a:t>
            </a:r>
          </a:p>
        </p:txBody>
      </p:sp>
      <p:sp>
        <p:nvSpPr>
          <p:cNvPr id="14" name="TextBox 13"/>
          <p:cNvSpPr txBox="1"/>
          <p:nvPr/>
        </p:nvSpPr>
        <p:spPr>
          <a:xfrm>
            <a:off x="8366760" y="3246120"/>
            <a:ext cx="2788920" cy="868680"/>
          </a:xfrm>
          <a:prstGeom prst="rect">
            <a:avLst/>
          </a:prstGeom>
          <a:noFill/>
        </p:spPr>
        <p:txBody>
          <a:bodyPr wrap="square" lIns="0" tIns="0" rIns="0" bIns="0" anchor="t">
            <a:spAutoFit/>
          </a:bodyPr>
          <a:lstStyle/>
          <a:p>
            <a:pPr algn="l">
              <a:spcAft>
                <a:spcPts val="0"/>
              </a:spcAft>
            </a:pPr>
            <a:r>
              <a:rPr sz="1500" b="0" i="0">
                <a:solidFill>
                  <a:srgbClr val="C9D7E8"/>
                </a:solidFill>
                <a:latin typeface="Calibri"/>
              </a:rPr>
              <a:t>Monto ofertado, ubicación y experiencia del proveedor.</a:t>
            </a:r>
          </a:p>
        </p:txBody>
      </p:sp>
      <p:sp>
        <p:nvSpPr>
          <p:cNvPr id="15" name="TextBox 14"/>
          <p:cNvSpPr txBox="1"/>
          <p:nvPr/>
        </p:nvSpPr>
        <p:spPr>
          <a:xfrm>
            <a:off x="731520" y="4617720"/>
            <a:ext cx="10698480" cy="822960"/>
          </a:xfrm>
          <a:prstGeom prst="rect">
            <a:avLst/>
          </a:prstGeom>
          <a:noFill/>
        </p:spPr>
        <p:txBody>
          <a:bodyPr wrap="square" lIns="0" tIns="0" rIns="0" bIns="0" anchor="t">
            <a:spAutoFit/>
          </a:bodyPr>
          <a:lstStyle/>
          <a:p>
            <a:pPr algn="l">
              <a:spcAft>
                <a:spcPts val="0"/>
              </a:spcAft>
            </a:pPr>
            <a:r>
              <a:rPr sz="4400" b="1" i="0">
                <a:solidFill>
                  <a:srgbClr val="FFFFFF"/>
                </a:solidFill>
                <a:latin typeface="Cambria"/>
              </a:rPr>
              <a:t>Muchas gracias</a:t>
            </a:r>
          </a:p>
        </p:txBody>
      </p:sp>
      <p:sp>
        <p:nvSpPr>
          <p:cNvPr id="16" name="TextBox 15"/>
          <p:cNvSpPr txBox="1"/>
          <p:nvPr/>
        </p:nvSpPr>
        <p:spPr>
          <a:xfrm>
            <a:off x="731520" y="5532120"/>
            <a:ext cx="10698480" cy="365760"/>
          </a:xfrm>
          <a:prstGeom prst="rect">
            <a:avLst/>
          </a:prstGeom>
          <a:noFill/>
        </p:spPr>
        <p:txBody>
          <a:bodyPr wrap="square" lIns="0" tIns="0" rIns="0" bIns="0" anchor="t">
            <a:spAutoFit/>
          </a:bodyPr>
          <a:lstStyle/>
          <a:p>
            <a:pPr algn="l">
              <a:spcAft>
                <a:spcPts val="0"/>
              </a:spcAft>
            </a:pPr>
            <a:r>
              <a:rPr sz="1500" b="0" i="0">
                <a:solidFill>
                  <a:srgbClr val="C9D7E8"/>
                </a:solidFill>
                <a:latin typeface="Calibri"/>
              </a:rPr>
              <a:t>Repositorio: github.com/vbravo29/mcdi500-licitaciones-salud</a:t>
            </a:r>
          </a:p>
        </p:txBody>
      </p:sp>
      <p:sp>
        <p:nvSpPr>
          <p:cNvPr id="17" name="TextBox 16"/>
          <p:cNvSpPr txBox="1"/>
          <p:nvPr/>
        </p:nvSpPr>
        <p:spPr>
          <a:xfrm>
            <a:off x="731520" y="5943600"/>
            <a:ext cx="10698480" cy="365760"/>
          </a:xfrm>
          <a:prstGeom prst="rect">
            <a:avLst/>
          </a:prstGeom>
          <a:noFill/>
        </p:spPr>
        <p:txBody>
          <a:bodyPr wrap="square" lIns="0" tIns="0" rIns="0" bIns="0" anchor="t">
            <a:spAutoFit/>
          </a:bodyPr>
          <a:lstStyle/>
          <a:p>
            <a:pPr algn="l">
              <a:spcAft>
                <a:spcPts val="0"/>
              </a:spcAft>
            </a:pPr>
            <a:r>
              <a:rPr sz="1300" b="0" i="0">
                <a:solidFill>
                  <a:srgbClr val="C9D7E8"/>
                </a:solidFill>
                <a:latin typeface="Calibri"/>
              </a:rPr>
              <a:t>Grupo 5 · Víctor Bravo · Nayadeth Garrido · Mauricio Cid</a:t>
            </a:r>
          </a:p>
        </p:txBody>
      </p:sp>
      <p:sp>
        <p:nvSpPr>
          <p:cNvPr id="18" name="TextBox 17"/>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C9D7E8"/>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1716</Words>
  <Application>Microsoft Office PowerPoint</Application>
  <PresentationFormat>Panorámica</PresentationFormat>
  <Paragraphs>169</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Ofertas en licitaciones públicas del sector Salud</dc:title>
  <dc:subject/>
  <dc:creator>Grupo 5</dc:creator>
  <cp:keywords/>
  <dc:description/>
  <cp:lastModifiedBy>Mauricio Cid Fuentes</cp:lastModifiedBy>
  <cp:revision>2</cp:revision>
  <dcterms:created xsi:type="dcterms:W3CDTF">2013-01-27T09:14:16Z</dcterms:created>
  <dcterms:modified xsi:type="dcterms:W3CDTF">2026-10-04T21:45:20Z</dcterms:modified>
  <cp:category/>
</cp:coreProperties>
</file>